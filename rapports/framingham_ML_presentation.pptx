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Odds Ratio</c:v>
                </c:pt>
              </c:strCache>
            </c:strRef>
          </c:tx>
          <c:spPr>
            <a:solidFill>
              <a:srgbClr val="1E5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86D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A6A7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age</c:v>
                  </c:pt>
                  <c:pt idx="1">
                    <c:v>sysBP</c:v>
                  </c:pt>
                  <c:pt idx="2">
                    <c:v>male</c:v>
                  </c:pt>
                  <c:pt idx="3">
                    <c:v>cigsPerDay</c:v>
                  </c:pt>
                  <c:pt idx="4">
                    <c:v>glucose</c:v>
                  </c:pt>
                  <c:pt idx="5">
                    <c:v>totChol</c:v>
                  </c:pt>
                  <c:pt idx="6">
                    <c:v>heartRate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1.067</c:v>
                </c:pt>
                <c:pt idx="1">
                  <c:v>1.018</c:v>
                </c:pt>
                <c:pt idx="2">
                  <c:v>1.786</c:v>
                </c:pt>
                <c:pt idx="3">
                  <c:v>1.019</c:v>
                </c:pt>
                <c:pt idx="4">
                  <c:v>1.009</c:v>
                </c:pt>
                <c:pt idx="5">
                  <c:v>1.003</c:v>
                </c:pt>
                <c:pt idx="6">
                  <c:v>0.995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A2B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F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3A86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+ SMOTE</c:v>
                  </c:pt>
                  <c:pt idx="2">
                    <c:v>+ Seuil 0.25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0.76</c:v>
                </c:pt>
                <c:pt idx="2">
                  <c:v>0.74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+ SMOTE</c:v>
                  </c:pt>
                  <c:pt idx="2">
                    <c:v>+ Seuil 0.25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0.12</c:v>
                </c:pt>
                <c:pt idx="1">
                  <c:v>0.58</c:v>
                </c:pt>
                <c:pt idx="2">
                  <c:v>0.65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+ SMOTE</c:v>
                  </c:pt>
                  <c:pt idx="2">
                    <c:v>+ Seuil 0.25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</c:v>
                </c:pt>
                <c:pt idx="1">
                  <c:v>0.71</c:v>
                </c:pt>
                <c:pt idx="2">
                  <c:v>0.72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B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1A2B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F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A2B5F">
              <a:alpha val="70000"/>
            </a:srgbClr>
          </a:solidFill>
          <a:ln w="12700">
            <a:solidFill>
              <a:srgbClr val="1A2B5F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 au Risque Cardiaque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Framingham Heart Study  ·  Régression Logistique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577840" y="731520"/>
            <a:ext cx="3200400" cy="1005840"/>
          </a:xfrm>
          <a:prstGeom prst="rect">
            <a:avLst>
              <a:gd name="adj" fmla="val 4545"/>
            </a:avLst>
          </a:prstGeom>
          <a:solidFill>
            <a:srgbClr val="1E5FA8">
              <a:alpha val="80000"/>
            </a:srgbClr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77840" y="7680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57784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2011680"/>
            <a:ext cx="3200400" cy="1005840"/>
          </a:xfrm>
          <a:prstGeom prst="rect">
            <a:avLst>
              <a:gd name="adj" fmla="val 4545"/>
            </a:avLst>
          </a:prstGeom>
          <a:solidFill>
            <a:srgbClr val="1E5FA8">
              <a:alpha val="80000"/>
            </a:srgbClr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0" y="204825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57784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3291840"/>
            <a:ext cx="3200400" cy="1005840"/>
          </a:xfrm>
          <a:prstGeom prst="rect">
            <a:avLst>
              <a:gd name="adj" fmla="val 4545"/>
            </a:avLst>
          </a:prstGeom>
          <a:solidFill>
            <a:srgbClr val="1E5FA8">
              <a:alpha val="80000"/>
            </a:srgbClr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33284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7784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  ·  Classification Binaire Supervisée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1051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dataset Framingham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Origine, variables, variable cible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67712"/>
            <a:ext cx="502920" cy="1051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67712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3591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&amp; Pipeline 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8163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prétraitement, SMOTE, VIF, GridSearchCV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29584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29584"/>
            <a:ext cx="502920" cy="1051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29584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62102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Régression Logistique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07822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Formule, hyperparamètres, odds ratios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005840"/>
            <a:ext cx="502920" cy="1051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0058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10972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Évaluation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1554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AUC-ROC, recall, matrice de confusion, seuil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26771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267712"/>
            <a:ext cx="502920" cy="1051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267712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23591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&amp; Solutions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28163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Déséquilibre, multicolinéarité, overfitting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529584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29584"/>
            <a:ext cx="502920" cy="1051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529584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62102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Perspectives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407822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Bilan, pistes d'amélioration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Framingham Heart Study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0058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326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4 240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65960" cy="10058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326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4813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65960" cy="10058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326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4813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positifs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65960" cy="10058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326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4813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début étude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103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clés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23160"/>
          <a:ext cx="8595360" cy="246888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5486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Âge en années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Pression systolique (mmHg)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totChol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Cholestérol total (mg/dL)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Glycémie à jeun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Indice de masse corporelle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Sexe (1=H, 0=F)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currentSmoker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Fumeur actuel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TenYearCHD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5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5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CHD à 10 ans (0/1)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5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Pipeline Méthodologique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261872" cy="1463040"/>
          </a:xfrm>
          <a:prstGeom prst="rect">
            <a:avLst/>
          </a:prstGeom>
          <a:solidFill>
            <a:srgbClr val="1A2B5F"/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804672"/>
            <a:ext cx="402336" cy="40233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804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1170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63624" y="1737360"/>
            <a:ext cx="219456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0512" y="1005840"/>
            <a:ext cx="1261872" cy="1463040"/>
          </a:xfrm>
          <a:prstGeom prst="rect">
            <a:avLst/>
          </a:prstGeom>
          <a:solidFill>
            <a:srgbClr val="1A2B5F"/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40280" y="804672"/>
            <a:ext cx="402336" cy="40233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804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56232" y="1078992"/>
            <a:ext cx="1170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56232" y="1719072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99816" y="1737360"/>
            <a:ext cx="219456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6704" y="1005840"/>
            <a:ext cx="1261872" cy="1463040"/>
          </a:xfrm>
          <a:prstGeom prst="rect">
            <a:avLst/>
          </a:prstGeom>
          <a:solidFill>
            <a:srgbClr val="1E5FA8"/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76472" y="804672"/>
            <a:ext cx="402336" cy="40233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804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92424" y="1078992"/>
            <a:ext cx="1170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Balancing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92424" y="1719072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classes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(~15% positifs)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36008" y="1737360"/>
            <a:ext cx="219456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82896" y="1005840"/>
            <a:ext cx="1261872" cy="1463040"/>
          </a:xfrm>
          <a:prstGeom prst="rect">
            <a:avLst/>
          </a:prstGeom>
          <a:solidFill>
            <a:srgbClr val="1E5FA8"/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12664" y="804672"/>
            <a:ext cx="402336" cy="40233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12664" y="804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28616" y="1078992"/>
            <a:ext cx="1170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28616" y="1719072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multicolinéarité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(sysBP/diaBP)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72200" y="1737360"/>
            <a:ext cx="219456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19088" y="1005840"/>
            <a:ext cx="1261872" cy="1463040"/>
          </a:xfrm>
          <a:prstGeom prst="rect">
            <a:avLst/>
          </a:prstGeom>
          <a:solidFill>
            <a:srgbClr val="1A2B5F"/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48856" y="804672"/>
            <a:ext cx="402336" cy="40233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8856" y="804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64808" y="1078992"/>
            <a:ext cx="1170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StratifiedKFold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64808" y="1719072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 folds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08392" y="1737360"/>
            <a:ext cx="219456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55280" y="1005840"/>
            <a:ext cx="1261872" cy="1463040"/>
          </a:xfrm>
          <a:prstGeom prst="rect">
            <a:avLst/>
          </a:prstGeom>
          <a:solidFill>
            <a:srgbClr val="1A2B5F"/>
          </a:solidFill>
          <a:ln w="12700">
            <a:solidFill>
              <a:srgbClr val="3A86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85048" y="804672"/>
            <a:ext cx="402336" cy="40233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85048" y="804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01000" y="1078992"/>
            <a:ext cx="1170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Seuil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01000" y="1719072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rappel, précision,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= 0.25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2743200"/>
            <a:ext cx="8595360" cy="1280160"/>
          </a:xfrm>
          <a:prstGeom prst="rect">
            <a:avLst/>
          </a:prstGeom>
          <a:solidFill>
            <a:srgbClr val="C8DFF5">
              <a:alpha val="50000"/>
            </a:srgbClr>
          </a:solidFill>
          <a:ln w="12700">
            <a:solidFill>
              <a:srgbClr val="3A86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889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 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SMOTE génère des exemples synthétiques interpolés pour équilibrer les classes avant l'entraînement 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VIF (Variance Inflation Factor) &gt; 10 signale une multicolinéarité critique — diaBP retiré (VIF=12.8)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StratifiedKFold préserve la distribution des classes dans chaque fold de validation croisée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Régression Logistique — Modèle &amp; Interprétation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1A2B5F">
              <a:alpha val="85000"/>
            </a:srgbClr>
          </a:solidFill>
          <a:ln w="12700">
            <a:solidFill>
              <a:srgbClr val="3A86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P(CHD = 1 | X) = 1 / (1 + e^−(β₀ + β₁·age + β₂·sysBP + β₃·male + ... + βₙ·Xₙ))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Ratios des variables (impact sur le risque CHD)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205740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57784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2103120"/>
            <a:ext cx="3291840" cy="658368"/>
          </a:xfrm>
          <a:prstGeom prst="rect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3A86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215798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→ OR 1.79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2404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hommes ont un risque +79% plus élevé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77840" y="2852928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9077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→ OR 1.07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0" y="3154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+6.7% de risque par année supplémentaire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77840" y="3602736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0" y="36576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sysBP → OR 1.02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0" y="39044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+1.8% de risque par mmHg de pression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4352544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0" y="440740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cigsPerDay → OR 1.02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0" y="46542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+1.9% par cigarette supplémentaire/jour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577840" y="5074920"/>
            <a:ext cx="3291840" cy="411480"/>
          </a:xfrm>
          <a:prstGeom prst="rect">
            <a:avLst/>
          </a:prstGeom>
          <a:solidFill>
            <a:srgbClr val="E8EFF7"/>
          </a:solidFill>
          <a:ln w="12700">
            <a:solidFill>
              <a:srgbClr val="3A86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77840" y="5074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: C=0.1  ·  penalty=L2  ·  solver=lbfgs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Résultats &amp; Évaluation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051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3268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75564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final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965960" cy="10515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93268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5087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75564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= 0.25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1965960" cy="1051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93268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15087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75564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914400"/>
            <a:ext cx="1965960" cy="10515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93268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0" y="15087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175564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152 positifs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des métriques selon le traitement appliqué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242316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57784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 (seuil = 0.25)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423160"/>
          <a:ext cx="3291840" cy="1280160"/>
        </p:xfrm>
        <a:graphic>
          <a:graphicData uri="http://schemas.openxmlformats.org/drawingml/2006/table">
            <a:tbl>
              <a:tblPr/>
              <a:tblGrid>
                <a:gridCol w="1005840"/>
                <a:gridCol w="1143000"/>
                <a:gridCol w="11430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: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: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: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= 561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= 187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: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= 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= 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8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DF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5577840" y="37947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Recall = 99/(99+53) = 65%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médicale : minimiser les faux négatifs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577840" y="4434840"/>
            <a:ext cx="3291840" cy="594360"/>
          </a:xfrm>
          <a:prstGeom prst="rect">
            <a:avLst/>
          </a:prstGeom>
          <a:solidFill>
            <a:srgbClr val="F0A500">
              <a:alpha val="2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577840" y="44348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0.5 → Recall 0.12  ·  Seuil 0.25 → Recall 0.65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Défis Rencontrés &amp;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1188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14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de classes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30759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Recall ≈ 0.12 en baseline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trompeuse à 85%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68880" y="130759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SMOTE + class_weight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'balanced' + seuil 0.25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1307592"/>
            <a:ext cx="0" cy="685800"/>
          </a:xfrm>
          <a:prstGeom prst="line">
            <a:avLst/>
          </a:prstGeom>
          <a:noFill/>
          <a:ln w="12700">
            <a:solidFill>
              <a:srgbClr val="E8EF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86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86000"/>
            <a:ext cx="109728" cy="11887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340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Multicolinéarité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6334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sysBP/diaBP corrélés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&gt; 10 → instabilité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68880" y="26334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Analyse VIF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 diaBP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23160" y="2633472"/>
            <a:ext cx="0" cy="685800"/>
          </a:xfrm>
          <a:prstGeom prst="line">
            <a:avLst/>
          </a:prstGeom>
          <a:noFill/>
          <a:ln w="12700">
            <a:solidFill>
              <a:srgbClr val="E8EF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6118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11880"/>
            <a:ext cx="10972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666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95935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Recall train = 1.0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test = 0.53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68880" y="395935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Régularisation L2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Stratifié k=5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23160" y="3959352"/>
            <a:ext cx="0" cy="685800"/>
          </a:xfrm>
          <a:prstGeom prst="line">
            <a:avLst/>
          </a:prstGeom>
          <a:noFill/>
          <a:ln w="12700">
            <a:solidFill>
              <a:srgbClr val="E8EF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960120"/>
            <a:ext cx="109728" cy="11887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014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asymétriques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130759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Skewness &gt;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et BMI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0" y="130759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Transformation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Yeo-Johnson + StandardScaler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03720" y="1307592"/>
            <a:ext cx="0" cy="685800"/>
          </a:xfrm>
          <a:prstGeom prst="line">
            <a:avLst/>
          </a:prstGeom>
          <a:noFill/>
          <a:ln w="12700">
            <a:solidFill>
              <a:srgbClr val="E8EF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286000"/>
            <a:ext cx="109728" cy="11887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340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56048" y="26334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~5% de valeurs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9440" y="26334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Imputation médiane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(num) et mode (cat)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03720" y="2633472"/>
            <a:ext cx="0" cy="685800"/>
          </a:xfrm>
          <a:prstGeom prst="line">
            <a:avLst/>
          </a:prstGeom>
          <a:noFill/>
          <a:ln w="12700">
            <a:solidFill>
              <a:srgbClr val="E8EFF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2B5F">
              <a:alpha val="60000"/>
            </a:srgbClr>
          </a:solidFill>
          <a:ln w="12700">
            <a:solidFill>
              <a:srgbClr val="1A2B5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Conclusions &amp; Perspectives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74320" cy="2743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88696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recall prime sur l'accuracy dans un contexte de dépistage médical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27048"/>
            <a:ext cx="274320" cy="2743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27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54533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ajustement du seuil = levier essentiel contre le déséquilibre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85416"/>
            <a:ext cx="274320" cy="2743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85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20370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multicolinéarité biaise les coefficients — VIF indispensable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43784"/>
            <a:ext cx="274320" cy="2743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43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86207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validation croisée stratifiée est incontournable sur données déséquilibrées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02152"/>
            <a:ext cx="274320" cy="2743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02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5204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= 0.72 atteint avec un modèle interprétable et déployable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d'amélioration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XGBoost/RandomForest</a:t>
            </a:r>
            <a:pPr indent="0" marL="0">
              <a:buNone/>
            </a:pPr>
            <a:r>
              <a:rPr lang="en-US" sz="11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</a:t>
            </a:r>
            <a:pPr indent="0" marL="0">
              <a:buNone/>
            </a:pPr>
            <a:r>
              <a:rPr lang="en-US" sz="11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pPr indent="0" marL="0">
              <a:buNone/>
            </a:pPr>
            <a:r>
              <a:rPr lang="en-US" sz="11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sklearn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Framingham Heart Study – Régression Logistique</dc:title>
  <dc:subject>PptxGenJS Presentation</dc:subject>
  <dc:creator>PptxGenJS</dc:creator>
  <cp:lastModifiedBy>PptxGenJS</cp:lastModifiedBy>
  <cp:revision>1</cp:revision>
  <dcterms:created xsi:type="dcterms:W3CDTF">2026-03-12T20:25:05Z</dcterms:created>
  <dcterms:modified xsi:type="dcterms:W3CDTF">2026-03-12T20:25:05Z</dcterms:modified>
</cp:coreProperties>
</file>