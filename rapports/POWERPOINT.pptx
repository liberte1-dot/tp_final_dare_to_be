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2476"/>
    <a:srgbClr val="FFFFFF"/>
    <a:srgbClr val="D68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12" autoAdjust="0"/>
    <p:restoredTop sz="94660"/>
  </p:normalViewPr>
  <p:slideViewPr>
    <p:cSldViewPr snapToGrid="0">
      <p:cViewPr varScale="1">
        <p:scale>
          <a:sx n="75" d="100"/>
          <a:sy n="75" d="100"/>
        </p:scale>
        <p:origin x="82"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0F8FEF-CFE6-4E4F-B19E-F0B9CB975B49}" type="datetimeFigureOut">
              <a:rPr lang="fr-FR" smtClean="0"/>
              <a:t>13/03/2026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99D7D1-247C-4CD2-9A4E-FB8E5D2458CB}" type="slidenum">
              <a:rPr lang="fr-FR" smtClean="0"/>
              <a:t>‹N°›</a:t>
            </a:fld>
            <a:endParaRPr lang="fr-FR"/>
          </a:p>
        </p:txBody>
      </p:sp>
    </p:spTree>
    <p:extLst>
      <p:ext uri="{BB962C8B-B14F-4D97-AF65-F5344CB8AC3E}">
        <p14:creationId xmlns:p14="http://schemas.microsoft.com/office/powerpoint/2010/main" val="4212015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smtClean="0"/>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D30BB376-B19C-488D-ABEB-03C7E6E9E3E0}"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486F077B-A50F-4D64-8574-E2D6A98A5553}"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7D9E2A62-1983-43A1-A163-D8AA46534C80}" type="datetimeFigureOut">
              <a:rPr lang="en-US" dirty="0"/>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898F3E3B-34E3-4345-B2A1-994B83598A9C}" type="datetimeFigureOut">
              <a:rPr lang="en-US" dirty="0"/>
              <a:t>3/13/2026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FD816C96-82A1-4D77-8ADA-627AC6FE3D65}" type="datetimeFigureOut">
              <a:rPr lang="en-US" dirty="0"/>
              <a:t>3/13/2026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3/13/2026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smtClean="0"/>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3/13/2026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65B747F8-9654-4282-85D2-65F41AAE7A75}" type="datetimeFigureOut">
              <a:rPr lang="en-US" dirty="0"/>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0B6E300-0A13-4A81-945A-7333C271A069}"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34671962-1EA4-46E7-BCB0-F36CE46D1A59}"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smtClean="0"/>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3/13/2026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‹N°›</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Organigramme : Alternative 9"/>
          <p:cNvSpPr/>
          <p:nvPr/>
        </p:nvSpPr>
        <p:spPr>
          <a:xfrm>
            <a:off x="1207325" y="753520"/>
            <a:ext cx="9951126" cy="1654167"/>
          </a:xfrm>
          <a:prstGeom prst="flowChartAlternateProcess">
            <a:avLst/>
          </a:prstGeom>
          <a:solidFill>
            <a:schemeClr val="bg1"/>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p:cNvSpPr>
            <a:spLocks noGrp="1"/>
          </p:cNvSpPr>
          <p:nvPr>
            <p:ph type="ctrTitle"/>
          </p:nvPr>
        </p:nvSpPr>
        <p:spPr>
          <a:xfrm>
            <a:off x="1100051" y="3265713"/>
            <a:ext cx="10058400" cy="1086368"/>
          </a:xfrm>
          <a:gradFill flip="none" rotWithShape="1">
            <a:gsLst>
              <a:gs pos="0">
                <a:schemeClr val="accent5">
                  <a:lumMod val="40000"/>
                  <a:lumOff val="60000"/>
                  <a:shade val="30000"/>
                  <a:satMod val="115000"/>
                </a:schemeClr>
              </a:gs>
              <a:gs pos="50000">
                <a:schemeClr val="accent5">
                  <a:lumMod val="40000"/>
                  <a:lumOff val="60000"/>
                  <a:shade val="67500"/>
                  <a:satMod val="115000"/>
                </a:schemeClr>
              </a:gs>
              <a:gs pos="100000">
                <a:schemeClr val="accent5">
                  <a:lumMod val="40000"/>
                  <a:lumOff val="60000"/>
                  <a:shade val="100000"/>
                  <a:satMod val="115000"/>
                </a:schemeClr>
              </a:gs>
            </a:gsLst>
            <a:lin ang="8100000" scaled="1"/>
            <a:tileRect/>
          </a:gradFill>
        </p:spPr>
        <p:txBody>
          <a:bodyPr anchor="ctr">
            <a:normAutofit/>
          </a:bodyPr>
          <a:lstStyle/>
          <a:p>
            <a:pPr algn="ctr"/>
            <a:r>
              <a:rPr lang="fr-FR" sz="3600" dirty="0" smtClean="0"/>
              <a:t>FORMATION ANALYSE DE DONNEE AVEC PYTHON </a:t>
            </a:r>
            <a:endParaRPr lang="fr-FR" sz="3600" dirty="0"/>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7627" y="849315"/>
            <a:ext cx="2209800" cy="1506583"/>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8230" y="797527"/>
            <a:ext cx="1933303" cy="1610160"/>
          </a:xfrm>
          <a:prstGeom prst="rect">
            <a:avLst/>
          </a:prstGeom>
        </p:spPr>
      </p:pic>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8332" y="769085"/>
            <a:ext cx="3161211" cy="1638602"/>
          </a:xfrm>
          <a:prstGeom prst="rect">
            <a:avLst/>
          </a:prstGeom>
        </p:spPr>
      </p:pic>
    </p:spTree>
    <p:extLst>
      <p:ext uri="{BB962C8B-B14F-4D97-AF65-F5344CB8AC3E}">
        <p14:creationId xmlns:p14="http://schemas.microsoft.com/office/powerpoint/2010/main" val="14181620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120430" y="1953357"/>
            <a:ext cx="10058400" cy="1450757"/>
          </a:xfrm>
        </p:spPr>
        <p:txBody>
          <a:bodyPr>
            <a:normAutofit/>
          </a:bodyPr>
          <a:lstStyle/>
          <a:p>
            <a:pPr algn="ctr"/>
            <a:r>
              <a:rPr lang="fr-FR" b="1" u="sng" dirty="0" smtClean="0">
                <a:solidFill>
                  <a:schemeClr val="accent1">
                    <a:lumMod val="75000"/>
                  </a:schemeClr>
                </a:solidFill>
              </a:rPr>
              <a:t>THEME :</a:t>
            </a:r>
            <a:r>
              <a:rPr lang="fr-FR" b="1" dirty="0" smtClean="0">
                <a:solidFill>
                  <a:schemeClr val="accent1">
                    <a:lumMod val="75000"/>
                  </a:schemeClr>
                </a:solidFill>
              </a:rPr>
              <a:t> </a:t>
            </a:r>
            <a:r>
              <a:rPr lang="fr-FR" b="1" dirty="0" smtClean="0"/>
              <a:t>Machine Learning Appliqué à la Prédiction du Risque Cardiaque</a:t>
            </a:r>
            <a:endParaRPr lang="en-US" dirty="0"/>
          </a:p>
        </p:txBody>
      </p:sp>
      <p:cxnSp>
        <p:nvCxnSpPr>
          <p:cNvPr id="11" name="Connecteur droit 10"/>
          <p:cNvCxnSpPr/>
          <p:nvPr/>
        </p:nvCxnSpPr>
        <p:spPr>
          <a:xfrm>
            <a:off x="1203767" y="3565003"/>
            <a:ext cx="9975063" cy="0"/>
          </a:xfrm>
          <a:prstGeom prst="line">
            <a:avLst/>
          </a:prstGeom>
          <a:ln cap="flat">
            <a:solidFill>
              <a:schemeClr val="dk1">
                <a:alpha val="46000"/>
              </a:schemeClr>
            </a:solidFill>
            <a:roun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76336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19050" y="11578"/>
            <a:ext cx="12192000" cy="1053295"/>
          </a:xfrm>
          <a:solidFill>
            <a:schemeClr val="accent2">
              <a:lumMod val="75000"/>
            </a:schemeClr>
          </a:solidFill>
        </p:spPr>
        <p:txBody>
          <a:bodyPr anchor="ctr">
            <a:normAutofit/>
          </a:bodyPr>
          <a:lstStyle/>
          <a:p>
            <a:r>
              <a:rPr lang="fr-FR" sz="4000" dirty="0" smtClean="0">
                <a:solidFill>
                  <a:schemeClr val="bg1"/>
                </a:solidFill>
              </a:rPr>
              <a:t>Plan de la présentation </a:t>
            </a:r>
            <a:endParaRPr lang="fr-FR" sz="4000" dirty="0">
              <a:solidFill>
                <a:schemeClr val="bg1"/>
              </a:solidFill>
            </a:endParaRPr>
          </a:p>
        </p:txBody>
      </p:sp>
      <p:sp>
        <p:nvSpPr>
          <p:cNvPr id="4" name="Rectangle 3"/>
          <p:cNvSpPr/>
          <p:nvPr/>
        </p:nvSpPr>
        <p:spPr>
          <a:xfrm>
            <a:off x="601883" y="1426166"/>
            <a:ext cx="4398379" cy="11023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90308" y="1437740"/>
            <a:ext cx="902825" cy="109077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800" dirty="0" smtClean="0"/>
              <a:t>01</a:t>
            </a:r>
            <a:endParaRPr lang="fr-FR" sz="2800" dirty="0"/>
          </a:p>
        </p:txBody>
      </p:sp>
      <p:sp>
        <p:nvSpPr>
          <p:cNvPr id="6" name="Rectangle 5"/>
          <p:cNvSpPr/>
          <p:nvPr/>
        </p:nvSpPr>
        <p:spPr>
          <a:xfrm>
            <a:off x="1458409" y="1437741"/>
            <a:ext cx="3541853" cy="10907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smtClean="0">
                <a:ln>
                  <a:solidFill>
                    <a:schemeClr val="tx1"/>
                  </a:solidFill>
                </a:ln>
                <a:solidFill>
                  <a:schemeClr val="tx1">
                    <a:lumMod val="95000"/>
                    <a:lumOff val="5000"/>
                  </a:schemeClr>
                </a:solidFill>
              </a:rPr>
              <a:t>Contexte et objectif</a:t>
            </a:r>
            <a:endParaRPr lang="fr-FR" sz="2800" dirty="0">
              <a:ln>
                <a:solidFill>
                  <a:schemeClr val="tx1">
                    <a:lumMod val="95000"/>
                    <a:lumOff val="5000"/>
                  </a:schemeClr>
                </a:solidFill>
              </a:ln>
              <a:solidFill>
                <a:schemeClr val="tx1">
                  <a:lumMod val="95000"/>
                  <a:lumOff val="5000"/>
                </a:schemeClr>
              </a:solidFill>
            </a:endParaRPr>
          </a:p>
        </p:txBody>
      </p:sp>
      <p:sp>
        <p:nvSpPr>
          <p:cNvPr id="7" name="Rectangle 6"/>
          <p:cNvSpPr/>
          <p:nvPr/>
        </p:nvSpPr>
        <p:spPr>
          <a:xfrm>
            <a:off x="596426" y="2780820"/>
            <a:ext cx="4398379" cy="11402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590308" y="2798237"/>
            <a:ext cx="856526" cy="112285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800" dirty="0" smtClean="0"/>
              <a:t>02</a:t>
            </a:r>
            <a:endParaRPr lang="fr-FR" sz="2800" dirty="0"/>
          </a:p>
        </p:txBody>
      </p:sp>
      <p:sp>
        <p:nvSpPr>
          <p:cNvPr id="10" name="Rectangle 9"/>
          <p:cNvSpPr/>
          <p:nvPr/>
        </p:nvSpPr>
        <p:spPr>
          <a:xfrm>
            <a:off x="1464527" y="2783903"/>
            <a:ext cx="3541853" cy="11228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lumMod val="95000"/>
                    <a:lumOff val="5000"/>
                  </a:schemeClr>
                </a:solidFill>
              </a:rPr>
              <a:t>Description de la base de données</a:t>
            </a:r>
            <a:endParaRPr lang="fr-FR" sz="2800" b="1" dirty="0">
              <a:solidFill>
                <a:schemeClr val="tx1">
                  <a:lumMod val="95000"/>
                  <a:lumOff val="5000"/>
                </a:schemeClr>
              </a:solidFill>
            </a:endParaRPr>
          </a:p>
        </p:txBody>
      </p:sp>
      <p:sp>
        <p:nvSpPr>
          <p:cNvPr id="11" name="Rectangle 10"/>
          <p:cNvSpPr/>
          <p:nvPr/>
        </p:nvSpPr>
        <p:spPr>
          <a:xfrm>
            <a:off x="601884" y="5435578"/>
            <a:ext cx="4398378" cy="10988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590309" y="5435578"/>
            <a:ext cx="868100" cy="10814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800" dirty="0" smtClean="0"/>
              <a:t>04</a:t>
            </a:r>
            <a:endParaRPr lang="fr-FR" sz="2800" dirty="0"/>
          </a:p>
        </p:txBody>
      </p:sp>
      <p:sp>
        <p:nvSpPr>
          <p:cNvPr id="14" name="Rectangle 13"/>
          <p:cNvSpPr/>
          <p:nvPr/>
        </p:nvSpPr>
        <p:spPr>
          <a:xfrm>
            <a:off x="1446835" y="5452995"/>
            <a:ext cx="3541853" cy="10814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lumMod val="95000"/>
                    <a:lumOff val="5000"/>
                  </a:schemeClr>
                </a:solidFill>
              </a:rPr>
              <a:t>Ingénierie des caractéristiques</a:t>
            </a:r>
            <a:endParaRPr lang="fr-FR" sz="2800" b="1" dirty="0">
              <a:solidFill>
                <a:schemeClr val="tx1">
                  <a:lumMod val="95000"/>
                  <a:lumOff val="5000"/>
                </a:schemeClr>
              </a:solidFill>
            </a:endParaRPr>
          </a:p>
        </p:txBody>
      </p:sp>
      <p:sp>
        <p:nvSpPr>
          <p:cNvPr id="15" name="Rectangle 14"/>
          <p:cNvSpPr/>
          <p:nvPr/>
        </p:nvSpPr>
        <p:spPr>
          <a:xfrm>
            <a:off x="6553200" y="1437741"/>
            <a:ext cx="4398379" cy="10954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p:nvPr/>
        </p:nvSpPr>
        <p:spPr>
          <a:xfrm>
            <a:off x="6541625" y="1449316"/>
            <a:ext cx="902825" cy="107920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800" dirty="0" smtClean="0"/>
              <a:t>06</a:t>
            </a:r>
            <a:endParaRPr lang="fr-FR" sz="2800" dirty="0"/>
          </a:p>
        </p:txBody>
      </p:sp>
      <p:sp>
        <p:nvSpPr>
          <p:cNvPr id="17" name="Rectangle 16"/>
          <p:cNvSpPr/>
          <p:nvPr/>
        </p:nvSpPr>
        <p:spPr>
          <a:xfrm>
            <a:off x="7409726" y="1449316"/>
            <a:ext cx="3541853" cy="107920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smtClean="0">
                <a:ln>
                  <a:solidFill>
                    <a:schemeClr val="tx1"/>
                  </a:solidFill>
                </a:ln>
                <a:solidFill>
                  <a:schemeClr val="tx1">
                    <a:lumMod val="95000"/>
                    <a:lumOff val="5000"/>
                  </a:schemeClr>
                </a:solidFill>
              </a:rPr>
              <a:t>Résultat </a:t>
            </a:r>
          </a:p>
        </p:txBody>
      </p:sp>
      <p:sp>
        <p:nvSpPr>
          <p:cNvPr id="18" name="Rectangle 17"/>
          <p:cNvSpPr/>
          <p:nvPr/>
        </p:nvSpPr>
        <p:spPr>
          <a:xfrm>
            <a:off x="6541625" y="4112517"/>
            <a:ext cx="4398379" cy="11373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p:nvSpPr>
        <p:spPr>
          <a:xfrm>
            <a:off x="6541625" y="4124092"/>
            <a:ext cx="856526" cy="112828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800" dirty="0" smtClean="0"/>
              <a:t>06</a:t>
            </a:r>
            <a:endParaRPr lang="fr-FR" sz="2800" dirty="0"/>
          </a:p>
        </p:txBody>
      </p:sp>
      <p:sp>
        <p:nvSpPr>
          <p:cNvPr id="20" name="Rectangle 19"/>
          <p:cNvSpPr/>
          <p:nvPr/>
        </p:nvSpPr>
        <p:spPr>
          <a:xfrm>
            <a:off x="7398150" y="4124092"/>
            <a:ext cx="3541853" cy="112828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lumMod val="95000"/>
                    <a:lumOff val="5000"/>
                  </a:schemeClr>
                </a:solidFill>
              </a:rPr>
              <a:t>Limites</a:t>
            </a:r>
            <a:endParaRPr lang="fr-FR" sz="2800" b="1" dirty="0">
              <a:solidFill>
                <a:schemeClr val="tx1">
                  <a:lumMod val="95000"/>
                  <a:lumOff val="5000"/>
                </a:schemeClr>
              </a:solidFill>
            </a:endParaRPr>
          </a:p>
        </p:txBody>
      </p:sp>
      <p:sp>
        <p:nvSpPr>
          <p:cNvPr id="24" name="Rectangle 23"/>
          <p:cNvSpPr/>
          <p:nvPr/>
        </p:nvSpPr>
        <p:spPr>
          <a:xfrm>
            <a:off x="6541625" y="5435578"/>
            <a:ext cx="4398378" cy="10988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p:cNvSpPr/>
          <p:nvPr/>
        </p:nvSpPr>
        <p:spPr>
          <a:xfrm>
            <a:off x="6530050" y="5435578"/>
            <a:ext cx="868100" cy="10988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800" dirty="0" smtClean="0"/>
              <a:t>07</a:t>
            </a:r>
            <a:endParaRPr lang="fr-FR" sz="2800" dirty="0"/>
          </a:p>
        </p:txBody>
      </p:sp>
      <p:sp>
        <p:nvSpPr>
          <p:cNvPr id="26" name="Rectangle 25"/>
          <p:cNvSpPr/>
          <p:nvPr/>
        </p:nvSpPr>
        <p:spPr>
          <a:xfrm>
            <a:off x="7398150" y="5435578"/>
            <a:ext cx="3541853" cy="10988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lumMod val="95000"/>
                    <a:lumOff val="5000"/>
                  </a:schemeClr>
                </a:solidFill>
              </a:rPr>
              <a:t>Conclusion</a:t>
            </a:r>
            <a:endParaRPr lang="fr-FR" sz="2800" b="1" dirty="0">
              <a:solidFill>
                <a:schemeClr val="tx1">
                  <a:lumMod val="95000"/>
                  <a:lumOff val="5000"/>
                </a:schemeClr>
              </a:solidFill>
            </a:endParaRPr>
          </a:p>
        </p:txBody>
      </p:sp>
      <p:sp>
        <p:nvSpPr>
          <p:cNvPr id="21" name="Rectangle 20"/>
          <p:cNvSpPr/>
          <p:nvPr/>
        </p:nvSpPr>
        <p:spPr>
          <a:xfrm>
            <a:off x="596427" y="4112102"/>
            <a:ext cx="4398379" cy="11402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p:cNvSpPr/>
          <p:nvPr/>
        </p:nvSpPr>
        <p:spPr>
          <a:xfrm>
            <a:off x="590309" y="4129519"/>
            <a:ext cx="856526" cy="112285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800" dirty="0" smtClean="0"/>
              <a:t>03</a:t>
            </a:r>
            <a:endParaRPr lang="fr-FR" sz="2800" dirty="0"/>
          </a:p>
        </p:txBody>
      </p:sp>
      <p:sp>
        <p:nvSpPr>
          <p:cNvPr id="23" name="Rectangle 22"/>
          <p:cNvSpPr/>
          <p:nvPr/>
        </p:nvSpPr>
        <p:spPr>
          <a:xfrm>
            <a:off x="1464528" y="4115185"/>
            <a:ext cx="3541853" cy="11228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lumMod val="95000"/>
                    <a:lumOff val="5000"/>
                  </a:schemeClr>
                </a:solidFill>
              </a:rPr>
              <a:t>Analyse exploratoire</a:t>
            </a:r>
            <a:endParaRPr lang="fr-FR" sz="2800" b="1" dirty="0">
              <a:solidFill>
                <a:schemeClr val="tx1">
                  <a:lumMod val="95000"/>
                  <a:lumOff val="5000"/>
                </a:schemeClr>
              </a:solidFill>
            </a:endParaRPr>
          </a:p>
        </p:txBody>
      </p:sp>
      <p:sp>
        <p:nvSpPr>
          <p:cNvPr id="27" name="Rectangle 26"/>
          <p:cNvSpPr/>
          <p:nvPr/>
        </p:nvSpPr>
        <p:spPr>
          <a:xfrm>
            <a:off x="6564774" y="2768909"/>
            <a:ext cx="4398379" cy="11428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27"/>
          <p:cNvSpPr/>
          <p:nvPr/>
        </p:nvSpPr>
        <p:spPr>
          <a:xfrm>
            <a:off x="6553199" y="2780821"/>
            <a:ext cx="902825" cy="112593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800" dirty="0" smtClean="0"/>
              <a:t>07</a:t>
            </a:r>
            <a:endParaRPr lang="fr-FR" sz="2800" dirty="0"/>
          </a:p>
        </p:txBody>
      </p:sp>
      <p:sp>
        <p:nvSpPr>
          <p:cNvPr id="29" name="Rectangle 28"/>
          <p:cNvSpPr/>
          <p:nvPr/>
        </p:nvSpPr>
        <p:spPr>
          <a:xfrm>
            <a:off x="7421300" y="2780821"/>
            <a:ext cx="3541853" cy="11259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smtClean="0">
                <a:ln>
                  <a:solidFill>
                    <a:schemeClr val="tx1">
                      <a:lumMod val="95000"/>
                      <a:lumOff val="5000"/>
                    </a:schemeClr>
                  </a:solidFill>
                </a:ln>
                <a:solidFill>
                  <a:schemeClr val="tx1">
                    <a:lumMod val="95000"/>
                    <a:lumOff val="5000"/>
                  </a:schemeClr>
                </a:solidFill>
              </a:rPr>
              <a:t>Évaluation des résultats</a:t>
            </a:r>
            <a:endParaRPr lang="fr-FR" sz="2800" dirty="0" smtClean="0">
              <a:ln>
                <a:solidFill>
                  <a:schemeClr val="tx1"/>
                </a:solidFill>
              </a:ln>
              <a:solidFill>
                <a:schemeClr val="tx1">
                  <a:lumMod val="95000"/>
                  <a:lumOff val="5000"/>
                </a:schemeClr>
              </a:solidFill>
            </a:endParaRPr>
          </a:p>
        </p:txBody>
      </p:sp>
    </p:spTree>
    <p:extLst>
      <p:ext uri="{BB962C8B-B14F-4D97-AF65-F5344CB8AC3E}">
        <p14:creationId xmlns:p14="http://schemas.microsoft.com/office/powerpoint/2010/main" val="18951312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0"/>
            <a:ext cx="12192000" cy="903890"/>
          </a:xfrm>
          <a:prstGeom prst="rect">
            <a:avLst/>
          </a:prstGeom>
          <a:solidFill>
            <a:srgbClr val="002060"/>
          </a:solidFill>
        </p:spPr>
        <p:style>
          <a:lnRef idx="1">
            <a:schemeClr val="accent1"/>
          </a:lnRef>
          <a:fillRef idx="3">
            <a:schemeClr val="accent1"/>
          </a:fillRef>
          <a:effectRef idx="2">
            <a:schemeClr val="accent1"/>
          </a:effectRef>
          <a:fontRef idx="minor">
            <a:schemeClr val="lt1"/>
          </a:fontRef>
        </p:style>
        <p:txBody>
          <a:bodyPr rtlCol="0" anchor="ctr"/>
          <a:lstStyle/>
          <a:p>
            <a:pPr lvl="2"/>
            <a:r>
              <a:rPr lang="fr-FR" sz="3200" dirty="0" smtClean="0">
                <a:solidFill>
                  <a:schemeClr val="bg1"/>
                </a:solidFill>
              </a:rPr>
              <a:t>01 . Contexte et objectif</a:t>
            </a:r>
            <a:endParaRPr lang="fr-FR" sz="3200" dirty="0">
              <a:solidFill>
                <a:schemeClr val="bg1"/>
              </a:solidFill>
            </a:endParaRPr>
          </a:p>
        </p:txBody>
      </p:sp>
      <p:sp>
        <p:nvSpPr>
          <p:cNvPr id="5" name="ZoneTexte 4"/>
          <p:cNvSpPr txBox="1"/>
          <p:nvPr/>
        </p:nvSpPr>
        <p:spPr>
          <a:xfrm>
            <a:off x="325821" y="1534510"/>
            <a:ext cx="11361682" cy="4524315"/>
          </a:xfrm>
          <a:prstGeom prst="rect">
            <a:avLst/>
          </a:prstGeom>
          <a:noFill/>
        </p:spPr>
        <p:txBody>
          <a:bodyPr wrap="square" rtlCol="0">
            <a:spAutoFit/>
          </a:bodyPr>
          <a:lstStyle/>
          <a:p>
            <a:pPr algn="just"/>
            <a:r>
              <a:rPr lang="fr-FR" sz="2000" dirty="0" smtClean="0"/>
              <a:t>	</a:t>
            </a:r>
            <a:r>
              <a:rPr lang="fr-FR" sz="2400" dirty="0" smtClean="0"/>
              <a:t>Lance en 1948 a Framingham, Massachusetts, l’étude Framingham  est l’une des plus importantes de la médecine cardiovasculaire. Elle consistait a identifier les risques des maladies coronariennes (maladie cardiovasculaire). A l’ époque les maladies cardiovasculaires constituaient déjà l’une des premières causes de mortalité dans le monde, un problème de santé publique majeur sans réponse préventive claire. Cette étude a permis d’identifier quelques facteurs de risque cardiaques notamment le taux de cholestérol, l’hypertension, le tabagisme, le diabète et etc.  </a:t>
            </a:r>
          </a:p>
          <a:p>
            <a:pPr algn="just"/>
            <a:endParaRPr lang="fr-FR" sz="2400" dirty="0" smtClean="0"/>
          </a:p>
          <a:p>
            <a:pPr algn="just"/>
            <a:r>
              <a:rPr lang="fr-FR" sz="2400" dirty="0" smtClean="0"/>
              <a:t>L’objectif pour nous est donc de construire un modèle de régression logistique qui a </a:t>
            </a:r>
            <a:r>
              <a:rPr lang="fr-FR" sz="2400" dirty="0" smtClean="0"/>
              <a:t>partir du dataset sur l’ étude Framingham disponible sur kaggle et contenant  les caractéristiques des patients, </a:t>
            </a:r>
            <a:r>
              <a:rPr lang="fr-FR" sz="2400" dirty="0" smtClean="0"/>
              <a:t>prédira </a:t>
            </a:r>
            <a:r>
              <a:rPr lang="fr-FR" sz="2400" dirty="0" smtClean="0"/>
              <a:t>si un patient risque </a:t>
            </a:r>
            <a:r>
              <a:rPr lang="fr-FR" sz="2400" dirty="0" smtClean="0"/>
              <a:t>d’avoir un problème cardiaque dans les 10 prochaines années.</a:t>
            </a:r>
            <a:endParaRPr lang="fr-FR" sz="2400" dirty="0"/>
          </a:p>
        </p:txBody>
      </p:sp>
    </p:spTree>
    <p:extLst>
      <p:ext uri="{BB962C8B-B14F-4D97-AF65-F5344CB8AC3E}">
        <p14:creationId xmlns:p14="http://schemas.microsoft.com/office/powerpoint/2010/main" val="38922940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34519"/>
            <a:ext cx="12192000" cy="97746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smtClean="0"/>
              <a:t>		02 . </a:t>
            </a:r>
            <a:r>
              <a:rPr lang="fr-FR" sz="2800" dirty="0" smtClean="0"/>
              <a:t>Description de la base de données</a:t>
            </a:r>
            <a:endParaRPr lang="fr-FR" sz="2800" dirty="0"/>
          </a:p>
        </p:txBody>
      </p:sp>
      <p:sp>
        <p:nvSpPr>
          <p:cNvPr id="2" name="Rectangle 1"/>
          <p:cNvSpPr/>
          <p:nvPr/>
        </p:nvSpPr>
        <p:spPr>
          <a:xfrm>
            <a:off x="314325" y="2876549"/>
            <a:ext cx="2543175" cy="136207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smtClean="0"/>
              <a:t>4240</a:t>
            </a:r>
          </a:p>
          <a:p>
            <a:pPr algn="ctr"/>
            <a:r>
              <a:rPr lang="fr-FR" sz="2400" dirty="0" smtClean="0"/>
              <a:t>patients</a:t>
            </a:r>
            <a:endParaRPr lang="fr-FR" sz="2400" dirty="0"/>
          </a:p>
        </p:txBody>
      </p:sp>
      <p:sp>
        <p:nvSpPr>
          <p:cNvPr id="5" name="Rectangle 4"/>
          <p:cNvSpPr/>
          <p:nvPr/>
        </p:nvSpPr>
        <p:spPr>
          <a:xfrm>
            <a:off x="3305175" y="2876546"/>
            <a:ext cx="2543175" cy="136207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smtClean="0"/>
              <a:t>16</a:t>
            </a:r>
          </a:p>
          <a:p>
            <a:pPr algn="ctr"/>
            <a:r>
              <a:rPr lang="fr-FR" sz="2400" dirty="0" smtClean="0"/>
              <a:t>variables</a:t>
            </a:r>
            <a:endParaRPr lang="fr-FR" sz="2400" dirty="0"/>
          </a:p>
        </p:txBody>
      </p:sp>
      <p:sp>
        <p:nvSpPr>
          <p:cNvPr id="6" name="Rectangle 5"/>
          <p:cNvSpPr/>
          <p:nvPr/>
        </p:nvSpPr>
        <p:spPr>
          <a:xfrm>
            <a:off x="6296025" y="2876546"/>
            <a:ext cx="2543175" cy="136207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smtClean="0"/>
              <a:t>~ 15%</a:t>
            </a:r>
          </a:p>
          <a:p>
            <a:pPr algn="ctr"/>
            <a:r>
              <a:rPr lang="fr-FR" sz="2400" dirty="0" smtClean="0"/>
              <a:t>Cas positifs</a:t>
            </a:r>
            <a:endParaRPr lang="fr-FR" sz="2400" dirty="0"/>
          </a:p>
        </p:txBody>
      </p:sp>
      <p:sp>
        <p:nvSpPr>
          <p:cNvPr id="8" name="Rectangle 7"/>
          <p:cNvSpPr/>
          <p:nvPr/>
        </p:nvSpPr>
        <p:spPr>
          <a:xfrm>
            <a:off x="9277350" y="2876545"/>
            <a:ext cx="2543175" cy="136207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smtClean="0"/>
              <a:t>~ 85%</a:t>
            </a:r>
          </a:p>
          <a:p>
            <a:pPr algn="ctr"/>
            <a:r>
              <a:rPr lang="fr-FR" sz="2400" dirty="0" smtClean="0"/>
              <a:t>Cas négatifs</a:t>
            </a:r>
            <a:endParaRPr lang="fr-FR" sz="2400" dirty="0"/>
          </a:p>
        </p:txBody>
      </p:sp>
      <p:sp>
        <p:nvSpPr>
          <p:cNvPr id="10" name="Titre 5"/>
          <p:cNvSpPr>
            <a:spLocks noGrp="1"/>
          </p:cNvSpPr>
          <p:nvPr>
            <p:ph type="title"/>
          </p:nvPr>
        </p:nvSpPr>
        <p:spPr>
          <a:xfrm>
            <a:off x="487680" y="5567680"/>
            <a:ext cx="9570720" cy="1066800"/>
          </a:xfrm>
        </p:spPr>
        <p:txBody>
          <a:bodyPr>
            <a:normAutofit/>
          </a:bodyPr>
          <a:lstStyle/>
          <a:p>
            <a:r>
              <a:rPr lang="fr-FR" sz="2400" dirty="0" smtClean="0">
                <a:solidFill>
                  <a:srgbClr val="0070C0"/>
                </a:solidFill>
              </a:rPr>
              <a:t>Variables :</a:t>
            </a:r>
            <a:endParaRPr lang="fr-FR" sz="2400" dirty="0">
              <a:solidFill>
                <a:srgbClr val="0070C0"/>
              </a:solidFill>
            </a:endParaRPr>
          </a:p>
        </p:txBody>
      </p:sp>
    </p:spTree>
    <p:extLst>
      <p:ext uri="{BB962C8B-B14F-4D97-AF65-F5344CB8AC3E}">
        <p14:creationId xmlns:p14="http://schemas.microsoft.com/office/powerpoint/2010/main" val="42138363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extLst>
              <p:ext uri="{D42A27DB-BD31-4B8C-83A1-F6EECF244321}">
                <p14:modId xmlns:p14="http://schemas.microsoft.com/office/powerpoint/2010/main" val="1451279846"/>
              </p:ext>
            </p:extLst>
          </p:nvPr>
        </p:nvGraphicFramePr>
        <p:xfrm>
          <a:off x="0" y="-95883"/>
          <a:ext cx="11953875" cy="7381240"/>
        </p:xfrm>
        <a:graphic>
          <a:graphicData uri="http://schemas.openxmlformats.org/drawingml/2006/table">
            <a:tbl>
              <a:tblPr firstRow="1" bandRow="1">
                <a:tableStyleId>{16D9F66E-5EB9-4882-86FB-DCBF35E3C3E4}</a:tableStyleId>
              </a:tblPr>
              <a:tblGrid>
                <a:gridCol w="3984625">
                  <a:extLst>
                    <a:ext uri="{9D8B030D-6E8A-4147-A177-3AD203B41FA5}">
                      <a16:colId xmlns:a16="http://schemas.microsoft.com/office/drawing/2014/main" val="2788507329"/>
                    </a:ext>
                  </a:extLst>
                </a:gridCol>
                <a:gridCol w="3984625">
                  <a:extLst>
                    <a:ext uri="{9D8B030D-6E8A-4147-A177-3AD203B41FA5}">
                      <a16:colId xmlns:a16="http://schemas.microsoft.com/office/drawing/2014/main" val="3013066886"/>
                    </a:ext>
                  </a:extLst>
                </a:gridCol>
                <a:gridCol w="3984625">
                  <a:extLst>
                    <a:ext uri="{9D8B030D-6E8A-4147-A177-3AD203B41FA5}">
                      <a16:colId xmlns:a16="http://schemas.microsoft.com/office/drawing/2014/main" val="3838898669"/>
                    </a:ext>
                  </a:extLst>
                </a:gridCol>
              </a:tblGrid>
              <a:tr h="370840">
                <a:tc>
                  <a:txBody>
                    <a:bodyPr/>
                    <a:lstStyle/>
                    <a:p>
                      <a:r>
                        <a:rPr lang="fr-FR" dirty="0" smtClean="0">
                          <a:solidFill>
                            <a:schemeClr val="bg1"/>
                          </a:solidFill>
                        </a:rPr>
                        <a:t>Variable</a:t>
                      </a:r>
                      <a:endParaRPr lang="fr-FR" dirty="0">
                        <a:solidFill>
                          <a:schemeClr val="bg1"/>
                        </a:solidFill>
                      </a:endParaRPr>
                    </a:p>
                  </a:txBody>
                  <a:tcPr>
                    <a:solidFill>
                      <a:srgbClr val="002060"/>
                    </a:solidFill>
                  </a:tcPr>
                </a:tc>
                <a:tc>
                  <a:txBody>
                    <a:bodyPr/>
                    <a:lstStyle/>
                    <a:p>
                      <a:r>
                        <a:rPr lang="fr-FR" dirty="0" smtClean="0">
                          <a:solidFill>
                            <a:schemeClr val="bg1"/>
                          </a:solidFill>
                        </a:rPr>
                        <a:t>Type</a:t>
                      </a:r>
                      <a:endParaRPr lang="fr-FR" dirty="0">
                        <a:solidFill>
                          <a:schemeClr val="bg1"/>
                        </a:solidFill>
                      </a:endParaRPr>
                    </a:p>
                  </a:txBody>
                  <a:tcPr>
                    <a:solidFill>
                      <a:srgbClr val="002060"/>
                    </a:solidFill>
                  </a:tcPr>
                </a:tc>
                <a:tc>
                  <a:txBody>
                    <a:bodyPr/>
                    <a:lstStyle/>
                    <a:p>
                      <a:r>
                        <a:rPr lang="fr-FR" dirty="0" smtClean="0">
                          <a:solidFill>
                            <a:schemeClr val="bg1"/>
                          </a:solidFill>
                        </a:rPr>
                        <a:t>Description</a:t>
                      </a:r>
                      <a:endParaRPr lang="fr-FR" dirty="0">
                        <a:solidFill>
                          <a:schemeClr val="bg1"/>
                        </a:solidFill>
                      </a:endParaRPr>
                    </a:p>
                  </a:txBody>
                  <a:tcPr>
                    <a:solidFill>
                      <a:srgbClr val="002060"/>
                    </a:solidFill>
                  </a:tcPr>
                </a:tc>
                <a:extLst>
                  <a:ext uri="{0D108BD9-81ED-4DB2-BD59-A6C34878D82A}">
                    <a16:rowId xmlns:a16="http://schemas.microsoft.com/office/drawing/2014/main" val="1426992533"/>
                  </a:ext>
                </a:extLst>
              </a:tr>
              <a:tr h="370840">
                <a:tc>
                  <a:txBody>
                    <a:bodyPr/>
                    <a:lstStyle/>
                    <a:p>
                      <a:r>
                        <a:rPr lang="fr-FR" dirty="0" err="1" smtClean="0">
                          <a:solidFill>
                            <a:srgbClr val="002060"/>
                          </a:solidFill>
                        </a:rPr>
                        <a:t>gender</a:t>
                      </a:r>
                      <a:r>
                        <a:rPr lang="fr-FR" dirty="0" smtClean="0">
                          <a:solidFill>
                            <a:srgbClr val="002060"/>
                          </a:solidFill>
                        </a:rPr>
                        <a:t> </a:t>
                      </a:r>
                      <a:endParaRPr lang="fr-FR" dirty="0">
                        <a:solidFill>
                          <a:srgbClr val="002060"/>
                        </a:solidFill>
                      </a:endParaRPr>
                    </a:p>
                  </a:txBody>
                  <a:tcPr/>
                </a:tc>
                <a:tc>
                  <a:txBody>
                    <a:bodyPr/>
                    <a:lstStyle/>
                    <a:p>
                      <a:r>
                        <a:rPr lang="fr-FR" dirty="0" smtClean="0">
                          <a:solidFill>
                            <a:srgbClr val="002060"/>
                          </a:solidFill>
                        </a:rPr>
                        <a:t>Catégorielle</a:t>
                      </a:r>
                      <a:endParaRPr lang="fr-FR" dirty="0">
                        <a:solidFill>
                          <a:srgbClr val="002060"/>
                        </a:solidFill>
                      </a:endParaRPr>
                    </a:p>
                  </a:txBody>
                  <a:tcPr/>
                </a:tc>
                <a:tc>
                  <a:txBody>
                    <a:bodyPr/>
                    <a:lstStyle/>
                    <a:p>
                      <a:r>
                        <a:rPr lang="fr-FR" dirty="0" smtClean="0">
                          <a:solidFill>
                            <a:srgbClr val="002060"/>
                          </a:solidFill>
                        </a:rPr>
                        <a:t>Genre</a:t>
                      </a:r>
                      <a:r>
                        <a:rPr lang="fr-FR" baseline="0" dirty="0" smtClean="0">
                          <a:solidFill>
                            <a:srgbClr val="002060"/>
                          </a:solidFill>
                        </a:rPr>
                        <a:t> du patient</a:t>
                      </a:r>
                      <a:endParaRPr lang="fr-FR" dirty="0">
                        <a:solidFill>
                          <a:srgbClr val="002060"/>
                        </a:solidFill>
                      </a:endParaRPr>
                    </a:p>
                  </a:txBody>
                  <a:tcPr/>
                </a:tc>
                <a:extLst>
                  <a:ext uri="{0D108BD9-81ED-4DB2-BD59-A6C34878D82A}">
                    <a16:rowId xmlns:a16="http://schemas.microsoft.com/office/drawing/2014/main" val="3295165352"/>
                  </a:ext>
                </a:extLst>
              </a:tr>
              <a:tr h="370840">
                <a:tc>
                  <a:txBody>
                    <a:bodyPr/>
                    <a:lstStyle/>
                    <a:p>
                      <a:r>
                        <a:rPr lang="fr-FR" dirty="0" err="1" smtClean="0">
                          <a:solidFill>
                            <a:srgbClr val="002060"/>
                          </a:solidFill>
                        </a:rPr>
                        <a:t>age</a:t>
                      </a:r>
                      <a:endParaRPr lang="fr-FR" dirty="0">
                        <a:solidFill>
                          <a:srgbClr val="002060"/>
                        </a:solidFill>
                      </a:endParaRPr>
                    </a:p>
                  </a:txBody>
                  <a:tcPr/>
                </a:tc>
                <a:tc>
                  <a:txBody>
                    <a:bodyPr/>
                    <a:lstStyle/>
                    <a:p>
                      <a:r>
                        <a:rPr lang="fr-FR" dirty="0" smtClean="0">
                          <a:solidFill>
                            <a:srgbClr val="002060"/>
                          </a:solidFill>
                        </a:rPr>
                        <a:t>Numérique</a:t>
                      </a:r>
                      <a:endParaRPr lang="fr-FR" dirty="0">
                        <a:solidFill>
                          <a:srgbClr val="002060"/>
                        </a:solidFill>
                      </a:endParaRPr>
                    </a:p>
                  </a:txBody>
                  <a:tcPr/>
                </a:tc>
                <a:tc>
                  <a:txBody>
                    <a:bodyPr/>
                    <a:lstStyle/>
                    <a:p>
                      <a:r>
                        <a:rPr lang="fr-FR" dirty="0" smtClean="0">
                          <a:solidFill>
                            <a:srgbClr val="002060"/>
                          </a:solidFill>
                        </a:rPr>
                        <a:t> Age du patient</a:t>
                      </a:r>
                      <a:endParaRPr lang="fr-FR" dirty="0">
                        <a:solidFill>
                          <a:srgbClr val="002060"/>
                        </a:solidFill>
                      </a:endParaRPr>
                    </a:p>
                  </a:txBody>
                  <a:tcPr/>
                </a:tc>
                <a:extLst>
                  <a:ext uri="{0D108BD9-81ED-4DB2-BD59-A6C34878D82A}">
                    <a16:rowId xmlns:a16="http://schemas.microsoft.com/office/drawing/2014/main" val="2931974646"/>
                  </a:ext>
                </a:extLst>
              </a:tr>
              <a:tr h="370840">
                <a:tc>
                  <a:txBody>
                    <a:bodyPr/>
                    <a:lstStyle/>
                    <a:p>
                      <a:r>
                        <a:rPr lang="fr-FR" dirty="0" err="1" smtClean="0">
                          <a:solidFill>
                            <a:srgbClr val="002060"/>
                          </a:solidFill>
                        </a:rPr>
                        <a:t>education</a:t>
                      </a:r>
                      <a:endParaRPr lang="fr-FR" dirty="0">
                        <a:solidFill>
                          <a:srgbClr val="002060"/>
                        </a:solidFill>
                      </a:endParaRPr>
                    </a:p>
                  </a:txBody>
                  <a:tcPr/>
                </a:tc>
                <a:tc>
                  <a:txBody>
                    <a:bodyPr/>
                    <a:lstStyle/>
                    <a:p>
                      <a:r>
                        <a:rPr lang="fr-FR" dirty="0" smtClean="0">
                          <a:solidFill>
                            <a:srgbClr val="002060"/>
                          </a:solidFill>
                        </a:rPr>
                        <a:t>Catégorielle</a:t>
                      </a:r>
                      <a:endParaRPr lang="fr-FR" dirty="0">
                        <a:solidFill>
                          <a:srgbClr val="002060"/>
                        </a:solidFill>
                      </a:endParaRPr>
                    </a:p>
                  </a:txBody>
                  <a:tcPr/>
                </a:tc>
                <a:tc>
                  <a:txBody>
                    <a:bodyPr/>
                    <a:lstStyle/>
                    <a:p>
                      <a:r>
                        <a:rPr lang="fr-FR" dirty="0" smtClean="0">
                          <a:solidFill>
                            <a:srgbClr val="002060"/>
                          </a:solidFill>
                        </a:rPr>
                        <a:t>Niveau d’ éducation(de 1 a 4)</a:t>
                      </a:r>
                      <a:endParaRPr lang="fr-FR" dirty="0">
                        <a:solidFill>
                          <a:srgbClr val="002060"/>
                        </a:solidFill>
                      </a:endParaRPr>
                    </a:p>
                  </a:txBody>
                  <a:tcPr/>
                </a:tc>
                <a:extLst>
                  <a:ext uri="{0D108BD9-81ED-4DB2-BD59-A6C34878D82A}">
                    <a16:rowId xmlns:a16="http://schemas.microsoft.com/office/drawing/2014/main" val="1991262175"/>
                  </a:ext>
                </a:extLst>
              </a:tr>
              <a:tr h="370840">
                <a:tc>
                  <a:txBody>
                    <a:bodyPr/>
                    <a:lstStyle/>
                    <a:p>
                      <a:r>
                        <a:rPr lang="fr-FR" dirty="0" err="1" smtClean="0">
                          <a:solidFill>
                            <a:srgbClr val="002060"/>
                          </a:solidFill>
                        </a:rPr>
                        <a:t>currentSmoker</a:t>
                      </a:r>
                      <a:endParaRPr lang="fr-FR" dirty="0">
                        <a:solidFill>
                          <a:srgbClr val="002060"/>
                        </a:solidFill>
                      </a:endParaRPr>
                    </a:p>
                  </a:txBody>
                  <a:tcPr/>
                </a:tc>
                <a:tc>
                  <a:txBody>
                    <a:bodyPr/>
                    <a:lstStyle/>
                    <a:p>
                      <a:r>
                        <a:rPr lang="fr-FR" dirty="0" smtClean="0">
                          <a:solidFill>
                            <a:srgbClr val="002060"/>
                          </a:solidFill>
                        </a:rPr>
                        <a:t>Catégorielle</a:t>
                      </a:r>
                      <a:endParaRPr lang="fr-FR" dirty="0">
                        <a:solidFill>
                          <a:srgbClr val="002060"/>
                        </a:solidFill>
                      </a:endParaRPr>
                    </a:p>
                  </a:txBody>
                  <a:tcPr/>
                </a:tc>
                <a:tc>
                  <a:txBody>
                    <a:bodyPr/>
                    <a:lstStyle/>
                    <a:p>
                      <a:r>
                        <a:rPr lang="fr-FR" dirty="0" smtClean="0">
                          <a:solidFill>
                            <a:srgbClr val="002060"/>
                          </a:solidFill>
                        </a:rPr>
                        <a:t>Indique si le</a:t>
                      </a:r>
                      <a:r>
                        <a:rPr lang="fr-FR" baseline="0" dirty="0" smtClean="0">
                          <a:solidFill>
                            <a:srgbClr val="002060"/>
                          </a:solidFill>
                        </a:rPr>
                        <a:t> patient fume ou non</a:t>
                      </a:r>
                      <a:endParaRPr lang="fr-FR" dirty="0">
                        <a:solidFill>
                          <a:srgbClr val="002060"/>
                        </a:solidFill>
                      </a:endParaRPr>
                    </a:p>
                  </a:txBody>
                  <a:tcPr/>
                </a:tc>
                <a:extLst>
                  <a:ext uri="{0D108BD9-81ED-4DB2-BD59-A6C34878D82A}">
                    <a16:rowId xmlns:a16="http://schemas.microsoft.com/office/drawing/2014/main" val="3740192729"/>
                  </a:ext>
                </a:extLst>
              </a:tr>
              <a:tr h="370840">
                <a:tc>
                  <a:txBody>
                    <a:bodyPr/>
                    <a:lstStyle/>
                    <a:p>
                      <a:r>
                        <a:rPr lang="fr-FR" dirty="0" err="1" smtClean="0">
                          <a:solidFill>
                            <a:srgbClr val="002060"/>
                          </a:solidFill>
                        </a:rPr>
                        <a:t>cigsPerDay</a:t>
                      </a:r>
                      <a:endParaRPr lang="fr-FR" dirty="0">
                        <a:solidFill>
                          <a:srgbClr val="002060"/>
                        </a:solidFill>
                      </a:endParaRPr>
                    </a:p>
                  </a:txBody>
                  <a:tcPr/>
                </a:tc>
                <a:tc>
                  <a:txBody>
                    <a:bodyPr/>
                    <a:lstStyle/>
                    <a:p>
                      <a:r>
                        <a:rPr lang="fr-FR" dirty="0" smtClean="0">
                          <a:solidFill>
                            <a:srgbClr val="002060"/>
                          </a:solidFill>
                        </a:rPr>
                        <a:t>Numérique</a:t>
                      </a:r>
                      <a:endParaRPr lang="fr-FR" dirty="0">
                        <a:solidFill>
                          <a:srgbClr val="002060"/>
                        </a:solidFill>
                      </a:endParaRPr>
                    </a:p>
                  </a:txBody>
                  <a:tcPr/>
                </a:tc>
                <a:tc>
                  <a:txBody>
                    <a:bodyPr/>
                    <a:lstStyle/>
                    <a:p>
                      <a:r>
                        <a:rPr lang="fr-FR" dirty="0" smtClean="0">
                          <a:solidFill>
                            <a:srgbClr val="002060"/>
                          </a:solidFill>
                        </a:rPr>
                        <a:t>Indique le nombre de cigarette par jour</a:t>
                      </a:r>
                      <a:endParaRPr lang="fr-FR" dirty="0">
                        <a:solidFill>
                          <a:srgbClr val="002060"/>
                        </a:solidFill>
                      </a:endParaRPr>
                    </a:p>
                  </a:txBody>
                  <a:tcPr/>
                </a:tc>
                <a:extLst>
                  <a:ext uri="{0D108BD9-81ED-4DB2-BD59-A6C34878D82A}">
                    <a16:rowId xmlns:a16="http://schemas.microsoft.com/office/drawing/2014/main" val="2573627627"/>
                  </a:ext>
                </a:extLst>
              </a:tr>
              <a:tr h="493819">
                <a:tc>
                  <a:txBody>
                    <a:bodyPr/>
                    <a:lstStyle/>
                    <a:p>
                      <a:r>
                        <a:rPr lang="fr-FR" dirty="0" err="1" smtClean="0">
                          <a:solidFill>
                            <a:srgbClr val="002060"/>
                          </a:solidFill>
                        </a:rPr>
                        <a:t>BPMeds</a:t>
                      </a:r>
                      <a:endParaRPr lang="fr-FR" dirty="0">
                        <a:solidFill>
                          <a:srgbClr val="002060"/>
                        </a:solidFill>
                      </a:endParaRPr>
                    </a:p>
                  </a:txBody>
                  <a:tcPr/>
                </a:tc>
                <a:tc>
                  <a:txBody>
                    <a:bodyPr/>
                    <a:lstStyle/>
                    <a:p>
                      <a:r>
                        <a:rPr lang="fr-FR" dirty="0" smtClean="0">
                          <a:solidFill>
                            <a:srgbClr val="002060"/>
                          </a:solidFill>
                        </a:rPr>
                        <a:t>Catégorielle</a:t>
                      </a:r>
                      <a:endParaRPr lang="fr-FR" dirty="0">
                        <a:solidFill>
                          <a:srgbClr val="002060"/>
                        </a:solidFill>
                      </a:endParaRPr>
                    </a:p>
                  </a:txBody>
                  <a:tcPr/>
                </a:tc>
                <a:tc>
                  <a:txBody>
                    <a:bodyPr/>
                    <a:lstStyle/>
                    <a:p>
                      <a:r>
                        <a:rPr lang="fr-FR" dirty="0" smtClean="0">
                          <a:solidFill>
                            <a:srgbClr val="002060"/>
                          </a:solidFill>
                        </a:rPr>
                        <a:t>Indique</a:t>
                      </a:r>
                      <a:r>
                        <a:rPr lang="fr-FR" baseline="0" dirty="0" smtClean="0">
                          <a:solidFill>
                            <a:srgbClr val="002060"/>
                          </a:solidFill>
                        </a:rPr>
                        <a:t> si le patient prend des médicaments contre l’hypertension</a:t>
                      </a:r>
                      <a:endParaRPr lang="fr-FR" dirty="0">
                        <a:solidFill>
                          <a:srgbClr val="002060"/>
                        </a:solidFill>
                      </a:endParaRPr>
                    </a:p>
                  </a:txBody>
                  <a:tcPr/>
                </a:tc>
                <a:extLst>
                  <a:ext uri="{0D108BD9-81ED-4DB2-BD59-A6C34878D82A}">
                    <a16:rowId xmlns:a16="http://schemas.microsoft.com/office/drawing/2014/main" val="2368266844"/>
                  </a:ext>
                </a:extLst>
              </a:tr>
              <a:tr h="370840">
                <a:tc>
                  <a:txBody>
                    <a:bodyPr/>
                    <a:lstStyle/>
                    <a:p>
                      <a:r>
                        <a:rPr lang="fr-FR" dirty="0" err="1" smtClean="0">
                          <a:solidFill>
                            <a:srgbClr val="002060"/>
                          </a:solidFill>
                        </a:rPr>
                        <a:t>prevelentStroke</a:t>
                      </a:r>
                      <a:endParaRPr lang="fr-FR" dirty="0">
                        <a:solidFill>
                          <a:srgbClr val="002060"/>
                        </a:solidFill>
                      </a:endParaRPr>
                    </a:p>
                  </a:txBody>
                  <a:tcPr/>
                </a:tc>
                <a:tc>
                  <a:txBody>
                    <a:bodyPr/>
                    <a:lstStyle/>
                    <a:p>
                      <a:r>
                        <a:rPr lang="fr-FR" dirty="0" smtClean="0">
                          <a:solidFill>
                            <a:srgbClr val="002060"/>
                          </a:solidFill>
                        </a:rPr>
                        <a:t>Catégorielle</a:t>
                      </a:r>
                      <a:endParaRPr lang="fr-FR" dirty="0">
                        <a:solidFill>
                          <a:srgbClr val="002060"/>
                        </a:solidFill>
                      </a:endParaRPr>
                    </a:p>
                  </a:txBody>
                  <a:tcPr/>
                </a:tc>
                <a:tc>
                  <a:txBody>
                    <a:bodyPr/>
                    <a:lstStyle/>
                    <a:p>
                      <a:r>
                        <a:rPr lang="fr-FR" dirty="0" smtClean="0">
                          <a:solidFill>
                            <a:srgbClr val="002060"/>
                          </a:solidFill>
                        </a:rPr>
                        <a:t>Indique si le patient</a:t>
                      </a:r>
                      <a:r>
                        <a:rPr lang="fr-FR" baseline="0" dirty="0" smtClean="0">
                          <a:solidFill>
                            <a:srgbClr val="002060"/>
                          </a:solidFill>
                        </a:rPr>
                        <a:t> a des antécédents d’AVC</a:t>
                      </a:r>
                      <a:endParaRPr lang="fr-FR" dirty="0">
                        <a:solidFill>
                          <a:srgbClr val="002060"/>
                        </a:solidFill>
                      </a:endParaRPr>
                    </a:p>
                  </a:txBody>
                  <a:tcPr/>
                </a:tc>
                <a:extLst>
                  <a:ext uri="{0D108BD9-81ED-4DB2-BD59-A6C34878D82A}">
                    <a16:rowId xmlns:a16="http://schemas.microsoft.com/office/drawing/2014/main" val="125665824"/>
                  </a:ext>
                </a:extLst>
              </a:tr>
              <a:tr h="370840">
                <a:tc>
                  <a:txBody>
                    <a:bodyPr/>
                    <a:lstStyle/>
                    <a:p>
                      <a:r>
                        <a:rPr lang="fr-FR" dirty="0" err="1" smtClean="0">
                          <a:solidFill>
                            <a:srgbClr val="002060"/>
                          </a:solidFill>
                        </a:rPr>
                        <a:t>prevalentHyp</a:t>
                      </a:r>
                      <a:r>
                        <a:rPr lang="fr-FR" baseline="0" dirty="0" smtClean="0">
                          <a:solidFill>
                            <a:srgbClr val="002060"/>
                          </a:solidFill>
                        </a:rPr>
                        <a:t> </a:t>
                      </a:r>
                      <a:endParaRPr lang="fr-FR" dirty="0">
                        <a:solidFill>
                          <a:srgbClr val="002060"/>
                        </a:solidFill>
                      </a:endParaRPr>
                    </a:p>
                  </a:txBody>
                  <a:tcPr/>
                </a:tc>
                <a:tc>
                  <a:txBody>
                    <a:bodyPr/>
                    <a:lstStyle/>
                    <a:p>
                      <a:r>
                        <a:rPr lang="fr-FR" dirty="0" smtClean="0">
                          <a:solidFill>
                            <a:srgbClr val="002060"/>
                          </a:solidFill>
                        </a:rPr>
                        <a:t>Catégorielle</a:t>
                      </a:r>
                      <a:endParaRPr lang="fr-FR" dirty="0">
                        <a:solidFill>
                          <a:srgbClr val="002060"/>
                        </a:solidFill>
                      </a:endParaRPr>
                    </a:p>
                  </a:txBody>
                  <a:tcPr/>
                </a:tc>
                <a:tc>
                  <a:txBody>
                    <a:bodyPr/>
                    <a:lstStyle/>
                    <a:p>
                      <a:r>
                        <a:rPr lang="fr-FR" dirty="0" smtClean="0">
                          <a:solidFill>
                            <a:srgbClr val="002060"/>
                          </a:solidFill>
                        </a:rPr>
                        <a:t>Indique si le patient a des antécédent d’hypertension</a:t>
                      </a:r>
                      <a:endParaRPr lang="fr-FR" dirty="0">
                        <a:solidFill>
                          <a:srgbClr val="002060"/>
                        </a:solidFill>
                      </a:endParaRPr>
                    </a:p>
                  </a:txBody>
                  <a:tcPr/>
                </a:tc>
                <a:extLst>
                  <a:ext uri="{0D108BD9-81ED-4DB2-BD59-A6C34878D82A}">
                    <a16:rowId xmlns:a16="http://schemas.microsoft.com/office/drawing/2014/main" val="3765797942"/>
                  </a:ext>
                </a:extLst>
              </a:tr>
              <a:tr h="370840">
                <a:tc>
                  <a:txBody>
                    <a:bodyPr/>
                    <a:lstStyle/>
                    <a:p>
                      <a:r>
                        <a:rPr lang="fr-FR" dirty="0" err="1" smtClean="0">
                          <a:solidFill>
                            <a:srgbClr val="002060"/>
                          </a:solidFill>
                        </a:rPr>
                        <a:t>diabete</a:t>
                      </a:r>
                      <a:endParaRPr lang="fr-FR" dirty="0">
                        <a:solidFill>
                          <a:srgbClr val="002060"/>
                        </a:solidFill>
                      </a:endParaRPr>
                    </a:p>
                  </a:txBody>
                  <a:tcPr/>
                </a:tc>
                <a:tc>
                  <a:txBody>
                    <a:bodyPr/>
                    <a:lstStyle/>
                    <a:p>
                      <a:r>
                        <a:rPr lang="fr-FR" dirty="0" smtClean="0">
                          <a:solidFill>
                            <a:srgbClr val="002060"/>
                          </a:solidFill>
                        </a:rPr>
                        <a:t>Catégorielle</a:t>
                      </a:r>
                      <a:endParaRPr lang="fr-FR" dirty="0">
                        <a:solidFill>
                          <a:srgbClr val="002060"/>
                        </a:solidFill>
                      </a:endParaRPr>
                    </a:p>
                  </a:txBody>
                  <a:tcPr/>
                </a:tc>
                <a:tc>
                  <a:txBody>
                    <a:bodyPr/>
                    <a:lstStyle/>
                    <a:p>
                      <a:r>
                        <a:rPr lang="fr-FR" dirty="0" smtClean="0">
                          <a:solidFill>
                            <a:srgbClr val="002060"/>
                          </a:solidFill>
                        </a:rPr>
                        <a:t>Indique si le</a:t>
                      </a:r>
                      <a:r>
                        <a:rPr lang="fr-FR" baseline="0" dirty="0" smtClean="0">
                          <a:solidFill>
                            <a:srgbClr val="002060"/>
                          </a:solidFill>
                        </a:rPr>
                        <a:t> patient est diabétique</a:t>
                      </a:r>
                      <a:endParaRPr lang="fr-FR" dirty="0">
                        <a:solidFill>
                          <a:srgbClr val="002060"/>
                        </a:solidFill>
                      </a:endParaRPr>
                    </a:p>
                  </a:txBody>
                  <a:tcPr/>
                </a:tc>
                <a:extLst>
                  <a:ext uri="{0D108BD9-81ED-4DB2-BD59-A6C34878D82A}">
                    <a16:rowId xmlns:a16="http://schemas.microsoft.com/office/drawing/2014/main" val="1949521754"/>
                  </a:ext>
                </a:extLst>
              </a:tr>
              <a:tr h="370840">
                <a:tc>
                  <a:txBody>
                    <a:bodyPr/>
                    <a:lstStyle/>
                    <a:p>
                      <a:r>
                        <a:rPr lang="fr-FR" dirty="0" err="1" smtClean="0">
                          <a:solidFill>
                            <a:srgbClr val="002060"/>
                          </a:solidFill>
                        </a:rPr>
                        <a:t>totchol</a:t>
                      </a:r>
                      <a:endParaRPr lang="fr-FR" dirty="0">
                        <a:solidFill>
                          <a:srgbClr val="002060"/>
                        </a:solidFill>
                      </a:endParaRPr>
                    </a:p>
                  </a:txBody>
                  <a:tcPr/>
                </a:tc>
                <a:tc>
                  <a:txBody>
                    <a:bodyPr/>
                    <a:lstStyle/>
                    <a:p>
                      <a:r>
                        <a:rPr lang="fr-FR" dirty="0" smtClean="0">
                          <a:solidFill>
                            <a:srgbClr val="002060"/>
                          </a:solidFill>
                        </a:rPr>
                        <a:t>Numérique</a:t>
                      </a:r>
                      <a:endParaRPr lang="fr-FR" dirty="0">
                        <a:solidFill>
                          <a:srgbClr val="002060"/>
                        </a:solidFill>
                      </a:endParaRPr>
                    </a:p>
                  </a:txBody>
                  <a:tcPr/>
                </a:tc>
                <a:tc>
                  <a:txBody>
                    <a:bodyPr/>
                    <a:lstStyle/>
                    <a:p>
                      <a:r>
                        <a:rPr lang="fr-FR" dirty="0" smtClean="0">
                          <a:solidFill>
                            <a:srgbClr val="002060"/>
                          </a:solidFill>
                        </a:rPr>
                        <a:t>Taux de cholestérol</a:t>
                      </a:r>
                      <a:endParaRPr lang="fr-FR" dirty="0">
                        <a:solidFill>
                          <a:srgbClr val="002060"/>
                        </a:solidFill>
                      </a:endParaRPr>
                    </a:p>
                  </a:txBody>
                  <a:tcPr/>
                </a:tc>
                <a:extLst>
                  <a:ext uri="{0D108BD9-81ED-4DB2-BD59-A6C34878D82A}">
                    <a16:rowId xmlns:a16="http://schemas.microsoft.com/office/drawing/2014/main" val="2925350810"/>
                  </a:ext>
                </a:extLst>
              </a:tr>
              <a:tr h="370840">
                <a:tc>
                  <a:txBody>
                    <a:bodyPr/>
                    <a:lstStyle/>
                    <a:p>
                      <a:r>
                        <a:rPr lang="fr-FR" dirty="0" err="1" smtClean="0">
                          <a:solidFill>
                            <a:srgbClr val="002060"/>
                          </a:solidFill>
                        </a:rPr>
                        <a:t>SysBP</a:t>
                      </a:r>
                      <a:endParaRPr lang="fr-FR" dirty="0">
                        <a:solidFill>
                          <a:srgbClr val="002060"/>
                        </a:solidFill>
                      </a:endParaRPr>
                    </a:p>
                  </a:txBody>
                  <a:tcPr/>
                </a:tc>
                <a:tc>
                  <a:txBody>
                    <a:bodyPr/>
                    <a:lstStyle/>
                    <a:p>
                      <a:r>
                        <a:rPr lang="fr-FR" dirty="0" smtClean="0">
                          <a:solidFill>
                            <a:srgbClr val="002060"/>
                          </a:solidFill>
                        </a:rPr>
                        <a:t>Numérique</a:t>
                      </a:r>
                      <a:endParaRPr lang="fr-FR" dirty="0">
                        <a:solidFill>
                          <a:srgbClr val="002060"/>
                        </a:solidFill>
                      </a:endParaRPr>
                    </a:p>
                  </a:txBody>
                  <a:tcPr/>
                </a:tc>
                <a:tc>
                  <a:txBody>
                    <a:bodyPr/>
                    <a:lstStyle/>
                    <a:p>
                      <a:r>
                        <a:rPr lang="fr-FR" dirty="0" smtClean="0">
                          <a:solidFill>
                            <a:srgbClr val="002060"/>
                          </a:solidFill>
                        </a:rPr>
                        <a:t>Pression artérielle systolique</a:t>
                      </a:r>
                      <a:r>
                        <a:rPr lang="fr-FR" baseline="0" dirty="0" smtClean="0">
                          <a:solidFill>
                            <a:srgbClr val="002060"/>
                          </a:solidFill>
                        </a:rPr>
                        <a:t> du patient</a:t>
                      </a:r>
                      <a:endParaRPr lang="fr-FR" dirty="0">
                        <a:solidFill>
                          <a:srgbClr val="002060"/>
                        </a:solidFill>
                      </a:endParaRPr>
                    </a:p>
                  </a:txBody>
                  <a:tcPr/>
                </a:tc>
                <a:extLst>
                  <a:ext uri="{0D108BD9-81ED-4DB2-BD59-A6C34878D82A}">
                    <a16:rowId xmlns:a16="http://schemas.microsoft.com/office/drawing/2014/main" val="1178283338"/>
                  </a:ext>
                </a:extLst>
              </a:tr>
              <a:tr h="370840">
                <a:tc>
                  <a:txBody>
                    <a:bodyPr/>
                    <a:lstStyle/>
                    <a:p>
                      <a:r>
                        <a:rPr lang="fr-FR" dirty="0" err="1" smtClean="0">
                          <a:solidFill>
                            <a:srgbClr val="002060"/>
                          </a:solidFill>
                        </a:rPr>
                        <a:t>DiaBP</a:t>
                      </a:r>
                      <a:endParaRPr lang="fr-FR" dirty="0">
                        <a:solidFill>
                          <a:srgbClr val="002060"/>
                        </a:solidFill>
                      </a:endParaRPr>
                    </a:p>
                  </a:txBody>
                  <a:tcPr/>
                </a:tc>
                <a:tc>
                  <a:txBody>
                    <a:bodyPr/>
                    <a:lstStyle/>
                    <a:p>
                      <a:r>
                        <a:rPr lang="fr-FR" dirty="0" smtClean="0">
                          <a:solidFill>
                            <a:srgbClr val="002060"/>
                          </a:solidFill>
                        </a:rPr>
                        <a:t>Numérique</a:t>
                      </a:r>
                      <a:endParaRPr lang="fr-FR" dirty="0">
                        <a:solidFill>
                          <a:srgbClr val="002060"/>
                        </a:solidFill>
                      </a:endParaRPr>
                    </a:p>
                  </a:txBody>
                  <a:tcPr/>
                </a:tc>
                <a:tc>
                  <a:txBody>
                    <a:bodyPr/>
                    <a:lstStyle/>
                    <a:p>
                      <a:r>
                        <a:rPr lang="fr-FR" dirty="0" smtClean="0">
                          <a:solidFill>
                            <a:srgbClr val="002060"/>
                          </a:solidFill>
                        </a:rPr>
                        <a:t>Pression artérielle diastolique du patient</a:t>
                      </a:r>
                      <a:endParaRPr lang="fr-FR" dirty="0">
                        <a:solidFill>
                          <a:srgbClr val="002060"/>
                        </a:solidFill>
                      </a:endParaRPr>
                    </a:p>
                  </a:txBody>
                  <a:tcPr/>
                </a:tc>
                <a:extLst>
                  <a:ext uri="{0D108BD9-81ED-4DB2-BD59-A6C34878D82A}">
                    <a16:rowId xmlns:a16="http://schemas.microsoft.com/office/drawing/2014/main" val="3867612187"/>
                  </a:ext>
                </a:extLst>
              </a:tr>
              <a:tr h="370840">
                <a:tc>
                  <a:txBody>
                    <a:bodyPr/>
                    <a:lstStyle/>
                    <a:p>
                      <a:r>
                        <a:rPr lang="fr-FR" dirty="0" smtClean="0">
                          <a:solidFill>
                            <a:srgbClr val="002060"/>
                          </a:solidFill>
                        </a:rPr>
                        <a:t>BMI</a:t>
                      </a:r>
                      <a:endParaRPr lang="fr-FR" dirty="0">
                        <a:solidFill>
                          <a:srgbClr val="002060"/>
                        </a:solidFill>
                      </a:endParaRPr>
                    </a:p>
                  </a:txBody>
                  <a:tcPr/>
                </a:tc>
                <a:tc>
                  <a:txBody>
                    <a:bodyPr/>
                    <a:lstStyle/>
                    <a:p>
                      <a:r>
                        <a:rPr lang="fr-FR" dirty="0" smtClean="0">
                          <a:solidFill>
                            <a:srgbClr val="002060"/>
                          </a:solidFill>
                        </a:rPr>
                        <a:t>Numérique</a:t>
                      </a:r>
                      <a:endParaRPr lang="fr-FR" dirty="0">
                        <a:solidFill>
                          <a:srgbClr val="002060"/>
                        </a:solidFill>
                      </a:endParaRPr>
                    </a:p>
                  </a:txBody>
                  <a:tcPr/>
                </a:tc>
                <a:tc>
                  <a:txBody>
                    <a:bodyPr/>
                    <a:lstStyle/>
                    <a:p>
                      <a:r>
                        <a:rPr lang="fr-FR" dirty="0" smtClean="0">
                          <a:solidFill>
                            <a:srgbClr val="002060"/>
                          </a:solidFill>
                        </a:rPr>
                        <a:t>Indice de masse corporelle du patient</a:t>
                      </a:r>
                      <a:endParaRPr lang="fr-FR" dirty="0">
                        <a:solidFill>
                          <a:srgbClr val="002060"/>
                        </a:solidFill>
                      </a:endParaRPr>
                    </a:p>
                  </a:txBody>
                  <a:tcPr/>
                </a:tc>
                <a:extLst>
                  <a:ext uri="{0D108BD9-81ED-4DB2-BD59-A6C34878D82A}">
                    <a16:rowId xmlns:a16="http://schemas.microsoft.com/office/drawing/2014/main" val="3064756946"/>
                  </a:ext>
                </a:extLst>
              </a:tr>
              <a:tr h="370840">
                <a:tc>
                  <a:txBody>
                    <a:bodyPr/>
                    <a:lstStyle/>
                    <a:p>
                      <a:r>
                        <a:rPr lang="fr-FR" dirty="0" err="1" smtClean="0">
                          <a:solidFill>
                            <a:srgbClr val="002060"/>
                          </a:solidFill>
                        </a:rPr>
                        <a:t>heartRate</a:t>
                      </a:r>
                      <a:endParaRPr lang="fr-FR" dirty="0">
                        <a:solidFill>
                          <a:srgbClr val="002060"/>
                        </a:solidFill>
                      </a:endParaRPr>
                    </a:p>
                  </a:txBody>
                  <a:tcPr/>
                </a:tc>
                <a:tc>
                  <a:txBody>
                    <a:bodyPr/>
                    <a:lstStyle/>
                    <a:p>
                      <a:r>
                        <a:rPr lang="fr-FR" dirty="0" smtClean="0">
                          <a:solidFill>
                            <a:srgbClr val="002060"/>
                          </a:solidFill>
                        </a:rPr>
                        <a:t>Numérique</a:t>
                      </a:r>
                      <a:endParaRPr lang="fr-FR" dirty="0">
                        <a:solidFill>
                          <a:srgbClr val="002060"/>
                        </a:solidFill>
                      </a:endParaRPr>
                    </a:p>
                  </a:txBody>
                  <a:tcPr/>
                </a:tc>
                <a:tc>
                  <a:txBody>
                    <a:bodyPr/>
                    <a:lstStyle/>
                    <a:p>
                      <a:r>
                        <a:rPr lang="fr-FR" dirty="0" smtClean="0">
                          <a:solidFill>
                            <a:srgbClr val="002060"/>
                          </a:solidFill>
                        </a:rPr>
                        <a:t>Fréquence</a:t>
                      </a:r>
                      <a:r>
                        <a:rPr lang="fr-FR" baseline="0" dirty="0" smtClean="0">
                          <a:solidFill>
                            <a:srgbClr val="002060"/>
                          </a:solidFill>
                        </a:rPr>
                        <a:t> cardiaque du patient</a:t>
                      </a:r>
                      <a:endParaRPr lang="fr-FR" dirty="0">
                        <a:solidFill>
                          <a:srgbClr val="002060"/>
                        </a:solidFill>
                      </a:endParaRPr>
                    </a:p>
                  </a:txBody>
                  <a:tcPr/>
                </a:tc>
                <a:extLst>
                  <a:ext uri="{0D108BD9-81ED-4DB2-BD59-A6C34878D82A}">
                    <a16:rowId xmlns:a16="http://schemas.microsoft.com/office/drawing/2014/main" val="217753693"/>
                  </a:ext>
                </a:extLst>
              </a:tr>
              <a:tr h="370840">
                <a:tc>
                  <a:txBody>
                    <a:bodyPr/>
                    <a:lstStyle/>
                    <a:p>
                      <a:r>
                        <a:rPr lang="fr-FR" dirty="0" smtClean="0">
                          <a:solidFill>
                            <a:srgbClr val="002060"/>
                          </a:solidFill>
                        </a:rPr>
                        <a:t>glucose</a:t>
                      </a:r>
                      <a:endParaRPr lang="fr-FR" dirty="0">
                        <a:solidFill>
                          <a:srgbClr val="002060"/>
                        </a:solidFill>
                      </a:endParaRPr>
                    </a:p>
                  </a:txBody>
                  <a:tcPr/>
                </a:tc>
                <a:tc>
                  <a:txBody>
                    <a:bodyPr/>
                    <a:lstStyle/>
                    <a:p>
                      <a:r>
                        <a:rPr lang="fr-FR" dirty="0" smtClean="0">
                          <a:solidFill>
                            <a:srgbClr val="002060"/>
                          </a:solidFill>
                        </a:rPr>
                        <a:t>Numérique</a:t>
                      </a:r>
                      <a:endParaRPr lang="fr-FR" dirty="0">
                        <a:solidFill>
                          <a:srgbClr val="002060"/>
                        </a:solidFill>
                      </a:endParaRPr>
                    </a:p>
                  </a:txBody>
                  <a:tcPr/>
                </a:tc>
                <a:tc>
                  <a:txBody>
                    <a:bodyPr/>
                    <a:lstStyle/>
                    <a:p>
                      <a:r>
                        <a:rPr lang="fr-FR" dirty="0" smtClean="0">
                          <a:solidFill>
                            <a:srgbClr val="002060"/>
                          </a:solidFill>
                        </a:rPr>
                        <a:t>Taux de glucose du patient</a:t>
                      </a:r>
                      <a:endParaRPr lang="fr-FR" dirty="0">
                        <a:solidFill>
                          <a:srgbClr val="002060"/>
                        </a:solidFill>
                      </a:endParaRPr>
                    </a:p>
                  </a:txBody>
                  <a:tcPr/>
                </a:tc>
                <a:extLst>
                  <a:ext uri="{0D108BD9-81ED-4DB2-BD59-A6C34878D82A}">
                    <a16:rowId xmlns:a16="http://schemas.microsoft.com/office/drawing/2014/main" val="1402697826"/>
                  </a:ext>
                </a:extLst>
              </a:tr>
              <a:tr h="370840">
                <a:tc>
                  <a:txBody>
                    <a:bodyPr/>
                    <a:lstStyle/>
                    <a:p>
                      <a:r>
                        <a:rPr lang="fr-FR" dirty="0" err="1" smtClean="0">
                          <a:solidFill>
                            <a:schemeClr val="bg1"/>
                          </a:solidFill>
                        </a:rPr>
                        <a:t>TenYearCHD</a:t>
                      </a:r>
                      <a:endParaRPr lang="fr-FR" dirty="0">
                        <a:solidFill>
                          <a:schemeClr val="bg1"/>
                        </a:solidFill>
                      </a:endParaRPr>
                    </a:p>
                  </a:txBody>
                  <a:tcPr>
                    <a:solidFill>
                      <a:srgbClr val="0070C0"/>
                    </a:solidFill>
                  </a:tcPr>
                </a:tc>
                <a:tc>
                  <a:txBody>
                    <a:bodyPr/>
                    <a:lstStyle/>
                    <a:p>
                      <a:r>
                        <a:rPr lang="fr-FR" dirty="0" smtClean="0">
                          <a:solidFill>
                            <a:schemeClr val="bg1"/>
                          </a:solidFill>
                        </a:rPr>
                        <a:t>Catégorielle</a:t>
                      </a:r>
                      <a:endParaRPr lang="fr-FR" dirty="0">
                        <a:solidFill>
                          <a:schemeClr val="bg1"/>
                        </a:solidFill>
                      </a:endParaRPr>
                    </a:p>
                  </a:txBody>
                  <a:tcPr>
                    <a:solidFill>
                      <a:srgbClr val="0070C0"/>
                    </a:solidFill>
                  </a:tcPr>
                </a:tc>
                <a:tc>
                  <a:txBody>
                    <a:bodyPr/>
                    <a:lstStyle/>
                    <a:p>
                      <a:r>
                        <a:rPr lang="fr-FR" dirty="0" smtClean="0">
                          <a:solidFill>
                            <a:schemeClr val="bg1"/>
                          </a:solidFill>
                        </a:rPr>
                        <a:t>Indique le risque dans 10 ans de maladie</a:t>
                      </a:r>
                      <a:r>
                        <a:rPr lang="fr-FR" baseline="0" dirty="0" smtClean="0">
                          <a:solidFill>
                            <a:schemeClr val="bg1"/>
                          </a:solidFill>
                        </a:rPr>
                        <a:t> coronarienne</a:t>
                      </a:r>
                      <a:endParaRPr lang="fr-FR" dirty="0">
                        <a:solidFill>
                          <a:schemeClr val="bg1"/>
                        </a:solidFill>
                      </a:endParaRPr>
                    </a:p>
                  </a:txBody>
                  <a:tcPr>
                    <a:solidFill>
                      <a:srgbClr val="0070C0"/>
                    </a:solidFill>
                  </a:tcPr>
                </a:tc>
                <a:extLst>
                  <a:ext uri="{0D108BD9-81ED-4DB2-BD59-A6C34878D82A}">
                    <a16:rowId xmlns:a16="http://schemas.microsoft.com/office/drawing/2014/main" val="2211556757"/>
                  </a:ext>
                </a:extLst>
              </a:tr>
            </a:tbl>
          </a:graphicData>
        </a:graphic>
      </p:graphicFrame>
    </p:spTree>
    <p:extLst>
      <p:ext uri="{BB962C8B-B14F-4D97-AF65-F5344CB8AC3E}">
        <p14:creationId xmlns:p14="http://schemas.microsoft.com/office/powerpoint/2010/main" val="14842743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0" y="1"/>
            <a:ext cx="12192000" cy="873760"/>
          </a:xfrm>
          <a:solidFill>
            <a:srgbClr val="002060"/>
          </a:solidFill>
        </p:spPr>
        <p:txBody>
          <a:bodyPr anchor="ctr">
            <a:normAutofit/>
          </a:bodyPr>
          <a:lstStyle/>
          <a:p>
            <a:r>
              <a:rPr lang="fr-FR" sz="2800" dirty="0" smtClean="0">
                <a:solidFill>
                  <a:schemeClr val="bg1"/>
                </a:solidFill>
              </a:rPr>
              <a:t>	</a:t>
            </a:r>
            <a:r>
              <a:rPr lang="fr-FR" sz="2800" b="1" dirty="0" smtClean="0">
                <a:solidFill>
                  <a:schemeClr val="bg1"/>
                </a:solidFill>
              </a:rPr>
              <a:t>03 . Analyse exploratoire</a:t>
            </a:r>
            <a:endParaRPr lang="fr-FR" sz="2800" b="1" dirty="0">
              <a:solidFill>
                <a:schemeClr val="bg1"/>
              </a:solidFill>
            </a:endParaRPr>
          </a:p>
        </p:txBody>
      </p:sp>
      <p:sp>
        <p:nvSpPr>
          <p:cNvPr id="4" name="ZoneTexte 3"/>
          <p:cNvSpPr txBox="1"/>
          <p:nvPr/>
        </p:nvSpPr>
        <p:spPr>
          <a:xfrm>
            <a:off x="0" y="1300480"/>
            <a:ext cx="12192000" cy="5940088"/>
          </a:xfrm>
          <a:prstGeom prst="rect">
            <a:avLst/>
          </a:prstGeom>
          <a:noFill/>
        </p:spPr>
        <p:txBody>
          <a:bodyPr wrap="square" rtlCol="0">
            <a:spAutoFit/>
          </a:bodyPr>
          <a:lstStyle/>
          <a:p>
            <a:r>
              <a:rPr lang="fr-FR" sz="2400" dirty="0" smtClean="0">
                <a:solidFill>
                  <a:srgbClr val="002060"/>
                </a:solidFill>
              </a:rPr>
              <a:t>	</a:t>
            </a:r>
            <a:r>
              <a:rPr lang="fr-FR" sz="2400" u="sng" dirty="0" smtClean="0">
                <a:solidFill>
                  <a:srgbClr val="002060"/>
                </a:solidFill>
              </a:rPr>
              <a:t>03.1. Gestion des valeurs manquantes :</a:t>
            </a:r>
          </a:p>
          <a:p>
            <a:endParaRPr lang="fr-FR" sz="1600" dirty="0" smtClean="0">
              <a:solidFill>
                <a:srgbClr val="002060"/>
              </a:solidFill>
            </a:endParaRPr>
          </a:p>
          <a:p>
            <a:pPr algn="just"/>
            <a:r>
              <a:rPr lang="fr-FR" dirty="0" smtClean="0"/>
              <a:t>L’ identification des valeurs manquantes est une étape critique du prétraitement. Pour cela, nous avons traiter les valeurs manquantes numériques ici en les remplaçant par la médiane et nous avons supprimer les valeurs manquantes catégorielles car elles ne représentaient plus que 0.03 % du dataset.</a:t>
            </a:r>
          </a:p>
          <a:p>
            <a:endParaRPr lang="fr-FR" sz="1600" dirty="0" smtClean="0"/>
          </a:p>
          <a:p>
            <a:r>
              <a:rPr lang="fr-FR" sz="2400" dirty="0">
                <a:solidFill>
                  <a:srgbClr val="002060"/>
                </a:solidFill>
              </a:rPr>
              <a:t>	</a:t>
            </a:r>
            <a:endParaRPr lang="fr-FR" sz="2400" dirty="0" smtClean="0">
              <a:solidFill>
                <a:srgbClr val="002060"/>
              </a:solidFill>
            </a:endParaRPr>
          </a:p>
          <a:p>
            <a:r>
              <a:rPr lang="fr-FR" sz="2400" dirty="0" smtClean="0">
                <a:solidFill>
                  <a:srgbClr val="002060"/>
                </a:solidFill>
              </a:rPr>
              <a:t>	</a:t>
            </a:r>
            <a:r>
              <a:rPr lang="fr-FR" sz="2400" u="sng" dirty="0" smtClean="0">
                <a:solidFill>
                  <a:srgbClr val="002060"/>
                </a:solidFill>
              </a:rPr>
              <a:t>03.2. </a:t>
            </a:r>
            <a:r>
              <a:rPr lang="fr-FR" sz="2400" u="sng" dirty="0">
                <a:solidFill>
                  <a:srgbClr val="002060"/>
                </a:solidFill>
              </a:rPr>
              <a:t>Gestion des valeurs </a:t>
            </a:r>
            <a:r>
              <a:rPr lang="fr-FR" sz="2400" u="sng" dirty="0" smtClean="0">
                <a:solidFill>
                  <a:srgbClr val="002060"/>
                </a:solidFill>
              </a:rPr>
              <a:t>aberrantes :</a:t>
            </a:r>
          </a:p>
          <a:p>
            <a:endParaRPr lang="fr-FR" u="sng" dirty="0" smtClean="0">
              <a:solidFill>
                <a:srgbClr val="002060"/>
              </a:solidFill>
            </a:endParaRPr>
          </a:p>
          <a:p>
            <a:pPr algn="just"/>
            <a:r>
              <a:rPr lang="fr-FR" dirty="0" smtClean="0"/>
              <a:t>La gestion des valeurs aberrantes est aussi nécessaires dans notre projet car elle permet au mieux a notre modèle de mieux effectuer ses prédictions tout en séparant correctement les personnes a risque de ceux non a risque. Pour cela nous avons utiliser le clipping pour réduire l’impact des valeurs aberrantes.</a:t>
            </a:r>
          </a:p>
          <a:p>
            <a:pPr algn="just"/>
            <a:endParaRPr lang="fr-FR" dirty="0"/>
          </a:p>
          <a:p>
            <a:pPr algn="just"/>
            <a:r>
              <a:rPr lang="fr-FR" sz="2400" dirty="0" smtClean="0"/>
              <a:t>	</a:t>
            </a:r>
            <a:r>
              <a:rPr lang="fr-FR" sz="2400" u="sng" dirty="0" smtClean="0">
                <a:solidFill>
                  <a:srgbClr val="002060"/>
                </a:solidFill>
              </a:rPr>
              <a:t>03.3. Analyse </a:t>
            </a:r>
            <a:r>
              <a:rPr lang="fr-FR" sz="2400" u="sng" dirty="0" err="1" smtClean="0">
                <a:solidFill>
                  <a:srgbClr val="002060"/>
                </a:solidFill>
              </a:rPr>
              <a:t>univariee</a:t>
            </a:r>
            <a:r>
              <a:rPr lang="fr-FR" sz="2400" u="sng" dirty="0" smtClean="0">
                <a:solidFill>
                  <a:srgbClr val="002060"/>
                </a:solidFill>
              </a:rPr>
              <a:t> :</a:t>
            </a:r>
          </a:p>
          <a:p>
            <a:pPr algn="just"/>
            <a:endParaRPr lang="fr-FR" u="sng" dirty="0" smtClean="0">
              <a:solidFill>
                <a:srgbClr val="002060"/>
              </a:solidFill>
            </a:endParaRPr>
          </a:p>
          <a:p>
            <a:pPr algn="just"/>
            <a:r>
              <a:rPr lang="fr-FR" dirty="0" smtClean="0"/>
              <a:t>En ce qui concerne l’analyse uni variée nous avons pu visualiser la répartition des différentes catégories sur nos variables catégorielles et il en ressort que sur notre jeu de données , nous avons beaucoup plus de femme que d’homme, la plupart des patients ont plutôt un faible niveau d’ éducation,  il y avait presque autant de patients fumeurs que de non fumeurs. Dans notre jeu de données, moins de 5% des patients prennent des médicaments contre l’hypertension, ont des antécédents d’AVC ou sont</a:t>
            </a:r>
            <a:endParaRPr lang="fr-FR" dirty="0"/>
          </a:p>
          <a:p>
            <a:pPr algn="just"/>
            <a:endParaRPr lang="fr-FR" dirty="0" smtClean="0"/>
          </a:p>
        </p:txBody>
      </p:sp>
    </p:spTree>
    <p:extLst>
      <p:ext uri="{BB962C8B-B14F-4D97-AF65-F5344CB8AC3E}">
        <p14:creationId xmlns:p14="http://schemas.microsoft.com/office/powerpoint/2010/main" val="12373736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ZoneTexte 3"/>
          <p:cNvSpPr txBox="1"/>
          <p:nvPr/>
        </p:nvSpPr>
        <p:spPr>
          <a:xfrm>
            <a:off x="314960" y="254000"/>
            <a:ext cx="11673840" cy="369332"/>
          </a:xfrm>
          <a:prstGeom prst="rect">
            <a:avLst/>
          </a:prstGeom>
          <a:noFill/>
        </p:spPr>
        <p:txBody>
          <a:bodyPr wrap="square" rtlCol="0">
            <a:spAutoFit/>
          </a:bodyPr>
          <a:lstStyle/>
          <a:p>
            <a:r>
              <a:rPr lang="fr-FR" dirty="0" smtClean="0"/>
              <a:t>Ou sont diabétiques tel qu’illustrer dans la figure ci-dessous : </a:t>
            </a:r>
            <a:endParaRPr lang="fr-FR" dirty="0"/>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048" y="724932"/>
            <a:ext cx="9432232" cy="5980668"/>
          </a:xfrm>
          <a:prstGeom prst="rect">
            <a:avLst/>
          </a:prstGeom>
        </p:spPr>
      </p:pic>
    </p:spTree>
    <p:extLst>
      <p:ext uri="{BB962C8B-B14F-4D97-AF65-F5344CB8AC3E}">
        <p14:creationId xmlns:p14="http://schemas.microsoft.com/office/powerpoint/2010/main" val="22583653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7247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spTree>
    <p:extLst>
      <p:ext uri="{BB962C8B-B14F-4D97-AF65-F5344CB8AC3E}">
        <p14:creationId xmlns:p14="http://schemas.microsoft.com/office/powerpoint/2010/main" val="21526448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spTree>
    <p:extLst>
      <p:ext uri="{BB962C8B-B14F-4D97-AF65-F5344CB8AC3E}">
        <p14:creationId xmlns:p14="http://schemas.microsoft.com/office/powerpoint/2010/main" val="2716883821"/>
      </p:ext>
    </p:extLst>
  </p:cSld>
  <p:clrMapOvr>
    <a:masterClrMapping/>
  </p:clrMapOvr>
  <p:timing>
    <p:tnLst>
      <p:par>
        <p:cTn id="1" dur="indefinite" restart="never" nodeType="tmRoot"/>
      </p:par>
    </p:tnLst>
  </p:timing>
</p:sld>
</file>

<file path=ppt/theme/theme1.xml><?xml version="1.0" encoding="utf-8"?>
<a:theme xmlns:a="http://schemas.openxmlformats.org/drawingml/2006/main" name="Rétrospective">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390</TotalTime>
  <Words>212</Words>
  <Application>Microsoft Office PowerPoint</Application>
  <PresentationFormat>Grand écran</PresentationFormat>
  <Paragraphs>98</Paragraphs>
  <Slides>11</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11</vt:i4>
      </vt:variant>
    </vt:vector>
  </HeadingPairs>
  <TitlesOfParts>
    <vt:vector size="14" baseType="lpstr">
      <vt:lpstr>Calibri</vt:lpstr>
      <vt:lpstr>Calibri Light</vt:lpstr>
      <vt:lpstr>Rétrospective</vt:lpstr>
      <vt:lpstr>FORMATION ANALYSE DE DONNEE AVEC PYTHON </vt:lpstr>
      <vt:lpstr>THEME : Machine Learning Appliqué à la Prédiction du Risque Cardiaque</vt:lpstr>
      <vt:lpstr>Plan de la présentation </vt:lpstr>
      <vt:lpstr>Présentation PowerPoint</vt:lpstr>
      <vt:lpstr>Variables :</vt:lpstr>
      <vt:lpstr>Présentation PowerPoint</vt:lpstr>
      <vt:lpstr> 03 . Analyse exploratoire</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TAYOU</dc:creator>
  <cp:lastModifiedBy>TAYOU</cp:lastModifiedBy>
  <cp:revision>34</cp:revision>
  <dcterms:created xsi:type="dcterms:W3CDTF">2026-03-12T19:59:28Z</dcterms:created>
  <dcterms:modified xsi:type="dcterms:W3CDTF">2026-03-13T11:14:21Z</dcterms:modified>
</cp:coreProperties>
</file>